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56" r:id="rId11"/>
    <p:sldId id="257" r:id="rId12"/>
    <p:sldId id="259" r:id="rId13"/>
    <p:sldId id="25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B4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658"/>
  </p:normalViewPr>
  <p:slideViewPr>
    <p:cSldViewPr snapToGrid="0">
      <p:cViewPr varScale="1">
        <p:scale>
          <a:sx n="120" d="100"/>
          <a:sy n="120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B5E80-0A85-A04F-B6AC-D346EF98F4C6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4C51E-AAD0-B040-A5BF-71C5CEB4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8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b41ba95d1b203c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b41ba95d1b203c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4b41ba95d1b203c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4b41ba95d1b203ca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4b41ba95d1b203ca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4b41ba95d1b203ca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b41ba95d1b203c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b41ba95d1b203c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b41ba95d1b203c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4b41ba95d1b203c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4b41ba95d1b203ca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4b41ba95d1b203ca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b41ba95d1b203ca_1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b41ba95d1b203ca_1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b41ba95d1b203ca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4b41ba95d1b203ca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351da429b1c47f7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351da429b1c47f7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351da429b1c47f7c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351da429b1c47f7c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351da429b1c47f7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351da429b1c47f7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351da429b1c47f7c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351da429b1c47f7c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51da429b1c47f7c_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51da429b1c47f7c_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51da429b1c47f7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351da429b1c47f7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5CB6-53F2-F8A9-A1B7-2CF72E423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65034-5CA1-7E56-4E02-BC11C70C3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9931D-E68D-EABA-C6F3-8F06ECFC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49F77-815F-FB16-EA50-B75927FB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B7594-8CD6-17ED-0D87-DE6D46F6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5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A8E2-D97F-600A-8E31-77629FE2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CD918-F791-D562-541C-CE036D04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5558-5ACE-D1BB-0261-CFD3B368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0A1BC-60A3-500A-020A-ACF2C448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8089-2D21-9814-E149-4EEAD11D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4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E054-CCF3-CC4C-DB73-51B61700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B45C5-9B99-D146-743C-012A38145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131A-ED79-41AA-176C-C122DC69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DDE54-4F2A-AD24-9760-9AF52C78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7C482-820F-CD8E-1A60-7516ABBB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9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0C52-6762-76FA-8AC4-CFF4DDA4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1DDE3-4FC4-9991-DF9C-CD3BDB944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730DD-921E-4E51-9E77-91754B023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BD846-52D8-8643-952B-E3AF6F5C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C61B9-32CC-93C8-0F05-70EC64B4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27073-7A1B-E8F0-E0EC-CCE06730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1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8D96-10D0-6228-A43B-72A7B001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813AF-0B16-1BBD-F99B-C3CA174FD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AF438-AC5A-3509-598A-D12A46B69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7A688-2A14-A4CF-8A50-89E2D04F4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C552C-60AA-7A13-D4C6-4B9431ED9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ED7B3-7B9F-4B66-EAB8-8598242F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C08EDC-D8DF-43E3-4B39-E39A2A6B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A61F0-7C05-8309-F56E-11D27FD0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1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F82A-F1D7-A41A-F64E-35EB984C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B856D-4A09-FA1E-AA73-CCA8E540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4182-C363-177C-D01A-9C9295BF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9FE6B-2ABF-8D02-4B3A-A4887C40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7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6ACCC-0227-A889-6408-F2BACA81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AF82B-08F0-12C6-0025-57C1EB6D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F195C-FF38-F9AC-C279-B2ECF2F5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D0DA-75CA-840E-02C8-14AD9ADD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61641-50BF-0111-EEAA-13BCD62E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F517D-0924-05B0-C037-C24EB8894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96A19-93E5-3A81-1C14-77552654D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44F76-A446-1784-1410-BE7550B3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02C89-2734-DF11-BF9B-E8163F6F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4AD-7333-0642-B24B-EB29BF80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C66C0-27B7-5BFD-5216-88DBF4242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1840B-6D05-94AD-5763-9624BDF6E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8E150-FE8B-0787-BAB6-D7E6EA8C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355B3-D229-2231-174C-1D730FEA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E610E-3043-EABC-F63E-20052BF6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B4E-80E3-8123-D5D7-00F26600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570F7-FDE4-F695-AF9E-A63AF9141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836B9-4FA5-D38B-3786-D675F18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43EC1-5E2D-4A19-A361-7C7504ED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8C2F9-F855-0FBF-E1E6-ACF704A4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0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47824-F26B-423D-D122-362C06D9F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3228-E941-958A-3068-A19568BC3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55D93-BE37-56F7-2117-66CD3B08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09A8-F7F8-5816-51D6-79B75C90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33D74-DD8E-810C-7415-8962858D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05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8243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155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374E8-3CEE-F66E-C584-7BB0FEE6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CD97B-5A9E-7319-131E-22D54866A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9FA5-68C9-5DA0-D1E7-B24DA9BFB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6B5CA-DAAE-9A45-A2C5-ED7C9D98F58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E4827-5D59-544D-6643-EDF5F45D9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35116-3B1E-A1FC-0169-B03F9F259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9785F-C0B4-1F49-B629-C07AAA147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4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gc.ca.go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rm.dfg.ca.gov/FileHandler.ashx?DocumentID=225654&amp;inlin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California Fish and Game Commission Activity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For ECOL-592: The Science and Policy of Species Conservation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Background on the CFGC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8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5655">
              <a:buSzPts val="1900"/>
            </a:pPr>
            <a:r>
              <a:rPr lang="en" sz="2533"/>
              <a:t>Founded in 1870 as Board of Fish Commissioners</a:t>
            </a:r>
            <a:endParaRPr sz="2533" b="1" i="1"/>
          </a:p>
          <a:p>
            <a:pPr indent="-465655">
              <a:buSzPts val="1900"/>
            </a:pPr>
            <a:r>
              <a:rPr lang="en" sz="2533"/>
              <a:t>1st wildlife conservation agency in the US</a:t>
            </a:r>
            <a:endParaRPr sz="2533"/>
          </a:p>
          <a:p>
            <a:pPr indent="-465655">
              <a:buSzPts val="1900"/>
            </a:pPr>
            <a:r>
              <a:rPr lang="en" sz="2533"/>
              <a:t>Expanded to include game in 1909</a:t>
            </a:r>
            <a:endParaRPr sz="2533"/>
          </a:p>
          <a:p>
            <a:pPr indent="-465655">
              <a:buSzPts val="1900"/>
            </a:pPr>
            <a:r>
              <a:rPr lang="en" sz="2533"/>
              <a:t>1940: California Constitutional Amendment</a:t>
            </a:r>
            <a:endParaRPr sz="2533"/>
          </a:p>
          <a:p>
            <a:pPr lvl="1" indent="-457189">
              <a:buSzPts val="1800"/>
            </a:pPr>
            <a:r>
              <a:rPr lang="en"/>
              <a:t>6 year staggered terms</a:t>
            </a:r>
            <a:endParaRPr/>
          </a:p>
          <a:p>
            <a:pPr lvl="1" indent="-457189">
              <a:buSzPts val="1800"/>
            </a:pPr>
            <a:r>
              <a:rPr lang="en"/>
              <a:t>Appointed by governor</a:t>
            </a:r>
            <a:endParaRPr/>
          </a:p>
          <a:p>
            <a:pPr lvl="1" indent="-457189">
              <a:buSzPts val="1800"/>
            </a:pPr>
            <a:r>
              <a:rPr lang="en"/>
              <a:t>Confirmed by California State Senate</a:t>
            </a:r>
            <a:endParaRPr/>
          </a:p>
          <a:p>
            <a:pPr indent="-465655">
              <a:buSzPts val="1900"/>
            </a:pPr>
            <a:r>
              <a:rPr lang="en" sz="2533"/>
              <a:t>Interesting responsibilities:</a:t>
            </a:r>
            <a:endParaRPr sz="2533"/>
          </a:p>
          <a:p>
            <a:pPr lvl="1" indent="-457189">
              <a:buSzPts val="1800"/>
            </a:pPr>
            <a:r>
              <a:rPr lang="en"/>
              <a:t>CESA listing and delisting</a:t>
            </a:r>
            <a:endParaRPr/>
          </a:p>
          <a:p>
            <a:pPr lvl="1" indent="-457189">
              <a:buSzPts val="1800"/>
            </a:pPr>
            <a:r>
              <a:rPr lang="en"/>
              <a:t>Establishing protected lands/waters</a:t>
            </a:r>
            <a:endParaRPr/>
          </a:p>
          <a:p>
            <a:pPr lvl="1" indent="-457189">
              <a:buSzPts val="1800"/>
            </a:pPr>
            <a:r>
              <a:rPr lang="en"/>
              <a:t>Leasing kelp beds and water-bottoms for shellfish cultivation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9466" y="1733785"/>
            <a:ext cx="3390433" cy="3390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Public Participation &amp; Transparency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Administrative Procedure Act (APA)</a:t>
            </a:r>
            <a:endParaRPr sz="2333">
              <a:highlight>
                <a:srgbClr val="FFFFFF"/>
              </a:highlight>
            </a:endParaRPr>
          </a:p>
          <a:p>
            <a:pPr lvl="1"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Governs the regulatory process</a:t>
            </a:r>
            <a:endParaRPr sz="2333">
              <a:highlight>
                <a:srgbClr val="FFFFFF"/>
              </a:highlight>
            </a:endParaRPr>
          </a:p>
          <a:p>
            <a:pPr lvl="1"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Allows any interested person to petition a state agency to change a regulation</a:t>
            </a:r>
            <a:endParaRPr sz="2333">
              <a:highlight>
                <a:srgbClr val="FFFFFF"/>
              </a:highlight>
            </a:endParaRPr>
          </a:p>
          <a:p>
            <a:pPr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Bagley-Keene Open Meeting Act</a:t>
            </a:r>
            <a:endParaRPr sz="2333">
              <a:highlight>
                <a:srgbClr val="FFFFFF"/>
              </a:highlight>
            </a:endParaRPr>
          </a:p>
          <a:p>
            <a:pPr lvl="1"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Requires meetings of state boards and commissions to be open to the public</a:t>
            </a:r>
            <a:endParaRPr sz="2333">
              <a:highlight>
                <a:srgbClr val="FFFFFF"/>
              </a:highlight>
            </a:endParaRPr>
          </a:p>
          <a:p>
            <a:pPr lvl="1"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Promotes transparency and public scrutiny</a:t>
            </a:r>
            <a:endParaRPr sz="2333">
              <a:highlight>
                <a:srgbClr val="FFFFFF"/>
              </a:highlight>
            </a:endParaRPr>
          </a:p>
          <a:p>
            <a:pPr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Public Comment</a:t>
            </a:r>
            <a:endParaRPr sz="2333">
              <a:highlight>
                <a:srgbClr val="FFFFFF"/>
              </a:highlight>
            </a:endParaRPr>
          </a:p>
          <a:p>
            <a:pPr lvl="1" indent="-452955">
              <a:buSzPts val="1750"/>
            </a:pPr>
            <a:r>
              <a:rPr lang="en" sz="2333">
                <a:highlight>
                  <a:srgbClr val="FFFFFF"/>
                </a:highlight>
              </a:rPr>
              <a:t>The Commission must provide an opportunity for the public to comment on each agenda item before or during discussion</a:t>
            </a:r>
            <a:endParaRPr sz="2333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95000"/>
              </a:lnSpc>
              <a:spcAft>
                <a:spcPts val="1600"/>
              </a:spcAft>
            </a:pPr>
            <a:r>
              <a:rPr lang="en" sz="3333">
                <a:highlight>
                  <a:srgbClr val="FFFFFF"/>
                </a:highlight>
              </a:rPr>
              <a:t>California Wildlife Agencies</a:t>
            </a:r>
            <a:endParaRPr sz="3333">
              <a:highlight>
                <a:srgbClr val="FFFFFF"/>
              </a:highlight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74121">
              <a:lnSpc>
                <a:spcPct val="95000"/>
              </a:lnSpc>
              <a:buSzPts val="2000"/>
              <a:buAutoNum type="arabicPeriod"/>
            </a:pPr>
            <a:r>
              <a:rPr lang="en" sz="2667">
                <a:highlight>
                  <a:srgbClr val="FFFFFF"/>
                </a:highlight>
              </a:rPr>
              <a:t>Fish &amp; Game Commission</a:t>
            </a:r>
            <a:endParaRPr sz="2667">
              <a:highlight>
                <a:srgbClr val="FFFFFF"/>
              </a:highlight>
            </a:endParaRPr>
          </a:p>
          <a:p>
            <a:pPr lvl="1" indent="-474121">
              <a:lnSpc>
                <a:spcPct val="95000"/>
              </a:lnSpc>
              <a:buSzPts val="2000"/>
            </a:pPr>
            <a:r>
              <a:rPr lang="en" sz="2667">
                <a:highlight>
                  <a:srgbClr val="FFFFFF"/>
                </a:highlight>
              </a:rPr>
              <a:t>Sets wildlife and fisheries regulations and policy</a:t>
            </a:r>
            <a:endParaRPr sz="2667">
              <a:highlight>
                <a:srgbClr val="FFFFFF"/>
              </a:highlight>
            </a:endParaRPr>
          </a:p>
          <a:p>
            <a:pPr indent="-474121">
              <a:lnSpc>
                <a:spcPct val="95000"/>
              </a:lnSpc>
              <a:buSzPts val="2000"/>
              <a:buAutoNum type="arabicPeriod"/>
            </a:pPr>
            <a:r>
              <a:rPr lang="en" sz="2667">
                <a:highlight>
                  <a:srgbClr val="FFFFFF"/>
                </a:highlight>
              </a:rPr>
              <a:t>Department of Fish &amp; Wildlife (CDFW)</a:t>
            </a:r>
            <a:endParaRPr sz="2667">
              <a:highlight>
                <a:srgbClr val="FFFFFF"/>
              </a:highlight>
            </a:endParaRPr>
          </a:p>
          <a:p>
            <a:pPr lvl="1" indent="-474121">
              <a:lnSpc>
                <a:spcPct val="95000"/>
              </a:lnSpc>
              <a:buSzPts val="2000"/>
            </a:pPr>
            <a:r>
              <a:rPr lang="en" sz="2667">
                <a:highlight>
                  <a:srgbClr val="FFFFFF"/>
                </a:highlight>
              </a:rPr>
              <a:t>Implements and enforces regulations</a:t>
            </a:r>
            <a:endParaRPr sz="2667">
              <a:highlight>
                <a:srgbClr val="FFFFFF"/>
              </a:highlight>
            </a:endParaRPr>
          </a:p>
          <a:p>
            <a:pPr lvl="1" indent="-474121">
              <a:lnSpc>
                <a:spcPct val="95000"/>
              </a:lnSpc>
              <a:buSzPts val="2000"/>
            </a:pPr>
            <a:r>
              <a:rPr lang="en" sz="2667">
                <a:highlight>
                  <a:srgbClr val="FFFFFF"/>
                </a:highlight>
              </a:rPr>
              <a:t>Provides biological data and scientific expertise</a:t>
            </a:r>
            <a:endParaRPr sz="2667">
              <a:highlight>
                <a:srgbClr val="FFFFFF"/>
              </a:highlight>
            </a:endParaRPr>
          </a:p>
          <a:p>
            <a:pPr indent="-474121">
              <a:lnSpc>
                <a:spcPct val="95000"/>
              </a:lnSpc>
              <a:buSzPts val="2000"/>
              <a:buAutoNum type="arabicPeriod"/>
            </a:pPr>
            <a:r>
              <a:rPr lang="en" sz="2667">
                <a:highlight>
                  <a:srgbClr val="FFFFFF"/>
                </a:highlight>
              </a:rPr>
              <a:t>Wildlife Conservation Board (WCB)</a:t>
            </a:r>
            <a:endParaRPr sz="2667">
              <a:highlight>
                <a:srgbClr val="FFFFFF"/>
              </a:highlight>
            </a:endParaRPr>
          </a:p>
          <a:p>
            <a:pPr lvl="1" indent="-474121">
              <a:lnSpc>
                <a:spcPct val="95000"/>
              </a:lnSpc>
              <a:buSzPts val="2000"/>
            </a:pPr>
            <a:r>
              <a:rPr lang="en" sz="2667">
                <a:highlight>
                  <a:srgbClr val="FFFFFF"/>
                </a:highlight>
              </a:rPr>
              <a:t>Funds habitat conservation, land acquisition, restoration, and public recreation</a:t>
            </a:r>
            <a:endParaRPr sz="2667">
              <a:highlight>
                <a:srgbClr val="FFFFFF"/>
              </a:highlight>
            </a:endParaRPr>
          </a:p>
          <a:p>
            <a:pPr marL="0" indent="0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667">
                <a:highlight>
                  <a:srgbClr val="FFFFFF"/>
                </a:highlight>
              </a:rPr>
              <a:t>In short: Commission = sets policy → CDFW = implements policy → WCB = funds conservation</a:t>
            </a:r>
            <a:endParaRPr sz="2667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415600" y="3445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Structure of the Committee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0" y="4086767"/>
            <a:ext cx="5904000" cy="26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" b="1"/>
              <a:t>President: Eric Sklar (2015)</a:t>
            </a:r>
            <a:endParaRPr b="1"/>
          </a:p>
          <a:p>
            <a:pPr>
              <a:spcBef>
                <a:spcPts val="1600"/>
              </a:spcBef>
            </a:pPr>
            <a:r>
              <a:rPr lang="en"/>
              <a:t>CEO of a cannabis company, former local elected official, and also big in the vineyard industries</a:t>
            </a:r>
            <a:endParaRPr/>
          </a:p>
          <a:p>
            <a:r>
              <a:rPr lang="en" sz="2400"/>
              <a:t>Hunter, scuba div</a:t>
            </a:r>
            <a:r>
              <a:rPr lang="en"/>
              <a:t>er, etc.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667" y="1356951"/>
            <a:ext cx="1905000" cy="2374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" name="Google Shape;82;p17"/>
          <p:cNvSpPr txBox="1"/>
          <p:nvPr/>
        </p:nvSpPr>
        <p:spPr>
          <a:xfrm>
            <a:off x="5812533" y="4086767"/>
            <a:ext cx="6506800" cy="215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2400" b="1">
                <a:solidFill>
                  <a:schemeClr val="dk2"/>
                </a:solidFill>
              </a:rPr>
              <a:t>Vice President: Darius W. Anderson (2024)</a:t>
            </a:r>
            <a:endParaRPr sz="2400" b="1">
              <a:solidFill>
                <a:schemeClr val="dk2"/>
              </a:solidFill>
            </a:endParaRPr>
          </a:p>
          <a:p>
            <a:pPr marL="609585" indent="-457189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“Entrepreneur” in investment firms</a:t>
            </a:r>
            <a:endParaRPr sz="2400">
              <a:solidFill>
                <a:schemeClr val="dk2"/>
              </a:solidFill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“Passionate” about conservation with a consumptive-recreational slant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6433" y="1356951"/>
            <a:ext cx="1905000" cy="238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415600" y="3306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Structure of the Committee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800" y="695267"/>
            <a:ext cx="1905000" cy="2374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800" y="2671233"/>
            <a:ext cx="1905000" cy="2286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2800" y="4616451"/>
            <a:ext cx="1905000" cy="1790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2" name="Google Shape;92;p18"/>
          <p:cNvSpPr txBox="1"/>
          <p:nvPr/>
        </p:nvSpPr>
        <p:spPr>
          <a:xfrm>
            <a:off x="263500" y="1238367"/>
            <a:ext cx="9846800" cy="194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Commissioner 1: Jacque Hostler-Carmesin (2013)</a:t>
            </a:r>
            <a:endParaRPr sz="2400">
              <a:solidFill>
                <a:schemeClr val="dk2"/>
              </a:solidFill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Char char="○"/>
            </a:pPr>
            <a:r>
              <a:rPr lang="en" sz="2400">
                <a:solidFill>
                  <a:schemeClr val="dk2"/>
                </a:solidFill>
              </a:rPr>
              <a:t>Tribal representative; National Ocean Council Governance Coordinating Committee under Obama; </a:t>
            </a:r>
            <a:r>
              <a:rPr lang="en" sz="2400" b="1">
                <a:solidFill>
                  <a:schemeClr val="dk2"/>
                </a:solidFill>
              </a:rPr>
              <a:t>Key focus: transportation and land-use planning</a:t>
            </a:r>
            <a:endParaRPr sz="2400" b="1"/>
          </a:p>
        </p:txBody>
      </p:sp>
      <p:sp>
        <p:nvSpPr>
          <p:cNvPr id="93" name="Google Shape;93;p18"/>
          <p:cNvSpPr txBox="1"/>
          <p:nvPr/>
        </p:nvSpPr>
        <p:spPr>
          <a:xfrm>
            <a:off x="2619800" y="3054067"/>
            <a:ext cx="9443600" cy="194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Commissioner 2: Samantha Murray (2019)</a:t>
            </a:r>
            <a:endParaRPr sz="2400">
              <a:solidFill>
                <a:schemeClr val="dk2"/>
              </a:solidFill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Char char="○"/>
            </a:pPr>
            <a:r>
              <a:rPr lang="en" sz="2400">
                <a:solidFill>
                  <a:schemeClr val="dk2"/>
                </a:solidFill>
              </a:rPr>
              <a:t>Faculty at UCSD, Ocean Law and Policy professor; NGO engagement, e.g., Audubon Society, Ocean Conservancy; </a:t>
            </a:r>
            <a:r>
              <a:rPr lang="en" sz="2400" b="1">
                <a:solidFill>
                  <a:schemeClr val="dk2"/>
                </a:solidFill>
              </a:rPr>
              <a:t>Key focus: marine policy and law</a:t>
            </a:r>
            <a:endParaRPr sz="2400" b="1"/>
          </a:p>
        </p:txBody>
      </p:sp>
      <p:sp>
        <p:nvSpPr>
          <p:cNvPr id="94" name="Google Shape;94;p18"/>
          <p:cNvSpPr txBox="1"/>
          <p:nvPr/>
        </p:nvSpPr>
        <p:spPr>
          <a:xfrm>
            <a:off x="345667" y="5118367"/>
            <a:ext cx="956800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Commissioner 3: Erika Zavaleta (2021)</a:t>
            </a:r>
            <a:endParaRPr sz="2400">
              <a:solidFill>
                <a:schemeClr val="dk2"/>
              </a:solidFill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Char char="○"/>
            </a:pPr>
            <a:r>
              <a:rPr lang="en" sz="2400">
                <a:solidFill>
                  <a:schemeClr val="dk2"/>
                </a:solidFill>
              </a:rPr>
              <a:t>Faculty at UCSC; Coastal Science and Policy; Society for Conservation Biology; ESA Sustainability Science award for work on community responses to climate change; </a:t>
            </a:r>
            <a:r>
              <a:rPr lang="en" sz="2400" b="1">
                <a:solidFill>
                  <a:schemeClr val="dk2"/>
                </a:solidFill>
              </a:rPr>
              <a:t>Key focus: evolutionary biology and sustainability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Clr>
                <a:schemeClr val="dk1"/>
              </a:buClr>
              <a:buSzPct val="39286"/>
            </a:pPr>
            <a:r>
              <a:rPr lang="en"/>
              <a:t>CFGC Strategic Planning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97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" b="1"/>
              <a:t>New Strategic Plan introduced in 2018</a:t>
            </a:r>
            <a:endParaRPr b="1"/>
          </a:p>
          <a:p>
            <a:pPr marL="0" indent="0">
              <a:spcBef>
                <a:spcPts val="1600"/>
              </a:spcBef>
              <a:buNone/>
            </a:pPr>
            <a:r>
              <a:rPr lang="en" b="1"/>
              <a:t>Highlights from Mission/Vision Statements</a:t>
            </a:r>
            <a:endParaRPr b="1"/>
          </a:p>
          <a:p>
            <a:pPr marL="0" indent="0">
              <a:spcBef>
                <a:spcPts val="1600"/>
              </a:spcBef>
              <a:buNone/>
            </a:pPr>
            <a:r>
              <a:rPr lang="en"/>
              <a:t>“transparent and open dialogue” -&gt; Collaboration at multiple organizational levels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"/>
              <a:t>“abundant, healthy, and diverse fish and wildlife that thrive within dynamic ecosystems, managed with public confidence and participation, through actions that are thoughtful, bold, and visionary in an ever-changing environment”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r>
              <a:rPr lang="en" b="1"/>
              <a:t>Core Values: Integrity, Transparency, Innovation, Excellence, Collaboration, Stewardship</a:t>
            </a:r>
            <a:endParaRPr b="1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… and they ensure these values are adopted by their constituents by throwing down the hammer on folks that take don’t comply…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CFGC Strategic Planning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97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" b="1"/>
              <a:t>New Strategic Plan introduced in 2018</a:t>
            </a:r>
            <a:endParaRPr b="1"/>
          </a:p>
          <a:p>
            <a:pPr marL="0" indent="0">
              <a:spcBef>
                <a:spcPts val="1600"/>
              </a:spcBef>
              <a:buNone/>
            </a:pPr>
            <a:r>
              <a:rPr lang="en" b="1"/>
              <a:t>Highlights from Mission/Vision Statements</a:t>
            </a:r>
            <a:endParaRPr b="1"/>
          </a:p>
          <a:p>
            <a:pPr marL="0" indent="0">
              <a:spcBef>
                <a:spcPts val="1600"/>
              </a:spcBef>
              <a:buNone/>
            </a:pPr>
            <a:r>
              <a:rPr lang="en"/>
              <a:t>“transparent and open dialogue” -&gt; Collaboration at multiple organizational levels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"/>
              <a:t>“abundant, healthy, and diverse fish and wildlife that thrive within dynamic ecosystems, managed with public confidence and participation, through actions that are thoughtful, bold, and visionary in an ever-changing environment”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r>
              <a:rPr lang="en" b="1"/>
              <a:t>Core Values: Integrity, Transparency, Innovation, Excellence, Collaboration, Stewardship</a:t>
            </a:r>
            <a:endParaRPr b="1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… and they ensure these values are adopted by their constituents by throwing down the hammer on folks that don’t comply… 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California vs Colorado	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5655">
              <a:buSzPts val="1900"/>
              <a:buAutoNum type="arabicPeriod"/>
            </a:pPr>
            <a:r>
              <a:rPr lang="en" sz="2533"/>
              <a:t>Number of commissioners</a:t>
            </a:r>
            <a:endParaRPr sz="2533"/>
          </a:p>
          <a:p>
            <a:pPr lvl="1" indent="-431789">
              <a:buSzPts val="1500"/>
            </a:pPr>
            <a:r>
              <a:rPr lang="en" sz="2000"/>
              <a:t>CO: 13</a:t>
            </a:r>
            <a:endParaRPr sz="2000"/>
          </a:p>
          <a:p>
            <a:pPr lvl="1" indent="-431789">
              <a:buSzPts val="1500"/>
            </a:pPr>
            <a:r>
              <a:rPr lang="en" sz="2000"/>
              <a:t>CA: 5</a:t>
            </a:r>
            <a:endParaRPr sz="2000"/>
          </a:p>
          <a:p>
            <a:pPr indent="-465655">
              <a:buSzPts val="1900"/>
              <a:buAutoNum type="arabicPeriod"/>
            </a:pPr>
            <a:r>
              <a:rPr lang="en" sz="2533"/>
              <a:t>Structure of Decision Making</a:t>
            </a:r>
            <a:endParaRPr sz="2533"/>
          </a:p>
          <a:p>
            <a:pPr lvl="1" indent="-431789">
              <a:buSzPts val="1500"/>
            </a:pPr>
            <a:r>
              <a:rPr lang="en" sz="2000"/>
              <a:t>Both have a commision that makes the rules and a DFG that enforced them (generally?)</a:t>
            </a:r>
            <a:endParaRPr sz="2000"/>
          </a:p>
          <a:p>
            <a:pPr indent="-465655">
              <a:buSzPts val="1900"/>
              <a:buAutoNum type="arabicPeriod"/>
            </a:pPr>
            <a:r>
              <a:rPr lang="en" sz="2533"/>
              <a:t>Public Involvement</a:t>
            </a:r>
            <a:endParaRPr sz="2533"/>
          </a:p>
          <a:p>
            <a:pPr lvl="1" indent="-431789">
              <a:buSzPts val="1500"/>
            </a:pPr>
            <a:r>
              <a:rPr lang="en" sz="2000"/>
              <a:t>Pretty good for both… more obvious for California? But can submit public comments and see/attend meetings</a:t>
            </a:r>
            <a:endParaRPr sz="2000"/>
          </a:p>
          <a:p>
            <a:pPr lvl="1" indent="-431789">
              <a:buSzPts val="1500"/>
            </a:pPr>
            <a:r>
              <a:rPr lang="en" sz="2000"/>
              <a:t>For both, public can submit proposals for resolutions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F4ED-51BD-1151-18E6-4226BAC3C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1852"/>
            <a:ext cx="9144000" cy="2387600"/>
          </a:xfrm>
        </p:spPr>
        <p:txBody>
          <a:bodyPr/>
          <a:lstStyle/>
          <a:p>
            <a:r>
              <a:rPr lang="en-US" dirty="0"/>
              <a:t>Commission Structure</a:t>
            </a:r>
          </a:p>
        </p:txBody>
      </p:sp>
    </p:spTree>
    <p:extLst>
      <p:ext uri="{BB962C8B-B14F-4D97-AF65-F5344CB8AC3E}">
        <p14:creationId xmlns:p14="http://schemas.microsoft.com/office/powerpoint/2010/main" val="41118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C943-536D-4EC8-28EB-A9FC101C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often and which committees?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BBF8-EF44-5699-0793-3EADC0661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2560"/>
            <a:ext cx="10515600" cy="275031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Commissioners vote on which actions to undertake</a:t>
            </a:r>
          </a:p>
          <a:p>
            <a:endParaRPr lang="en-US" dirty="0"/>
          </a:p>
          <a:p>
            <a:r>
              <a:rPr lang="en-US" dirty="0"/>
              <a:t>Meet ~ monthly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0216A8-C870-AAA7-8266-FAAF15439F23}"/>
              </a:ext>
            </a:extLst>
          </p:cNvPr>
          <p:cNvSpPr/>
          <p:nvPr/>
        </p:nvSpPr>
        <p:spPr>
          <a:xfrm>
            <a:off x="1687421" y="2395958"/>
            <a:ext cx="2644048" cy="1189822"/>
          </a:xfrm>
          <a:prstGeom prst="ellipse">
            <a:avLst/>
          </a:prstGeom>
          <a:solidFill>
            <a:srgbClr val="3BB4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Marine Resources Committee (MRC)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B35495-63D2-DE7D-FD58-9FCD0B9F102A}"/>
              </a:ext>
            </a:extLst>
          </p:cNvPr>
          <p:cNvSpPr/>
          <p:nvPr/>
        </p:nvSpPr>
        <p:spPr>
          <a:xfrm>
            <a:off x="4773976" y="1690688"/>
            <a:ext cx="2644048" cy="118982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Wildlife Resources Committee (WRC)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585778-1AAA-7414-ED53-F08779C6E9E4}"/>
              </a:ext>
            </a:extLst>
          </p:cNvPr>
          <p:cNvSpPr/>
          <p:nvPr/>
        </p:nvSpPr>
        <p:spPr>
          <a:xfrm>
            <a:off x="7730168" y="2239178"/>
            <a:ext cx="2644048" cy="118982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Tribal Committee (TC)</a:t>
            </a:r>
          </a:p>
        </p:txBody>
      </p:sp>
    </p:spTree>
    <p:extLst>
      <p:ext uri="{BB962C8B-B14F-4D97-AF65-F5344CB8AC3E}">
        <p14:creationId xmlns:p14="http://schemas.microsoft.com/office/powerpoint/2010/main" val="65525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EA17-D35A-3014-D688-2C4655C6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policies and legislative procedures?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F22F-2B25-354D-9426-6A9EBD54A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Reviews how the Department of Fish and Wildlife implements its policies and reports</a:t>
            </a:r>
          </a:p>
          <a:p>
            <a:r>
              <a:rPr lang="en-US" dirty="0"/>
              <a:t>Doesn't take formal positions on state or federal legislation. It instead endorses goals or concepts</a:t>
            </a:r>
          </a:p>
          <a:p>
            <a:r>
              <a:rPr lang="en-US" dirty="0"/>
              <a:t>Summarizes how state legislation affects CA state wildlife </a:t>
            </a:r>
          </a:p>
          <a:p>
            <a:r>
              <a:rPr lang="en-US" dirty="0"/>
              <a:t>Implements Justice, Equity, Diversity, and Inclusion</a:t>
            </a:r>
          </a:p>
          <a:p>
            <a:pPr lvl="1"/>
            <a:r>
              <a:rPr lang="en-US" dirty="0"/>
              <a:t>Ensures wildlife is managed with public trust and inclusive decision making</a:t>
            </a:r>
          </a:p>
          <a:p>
            <a:pPr lvl="1"/>
            <a:r>
              <a:rPr lang="en-US" dirty="0"/>
              <a:t>Acknowledges past injustice against indigenous tribes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4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96DF-646B-09B0-7E70-39CC20E1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e.g. Proposed legislation being considered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E27B1-D765-BF7C-59F1-09BB3599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Allowing the use of harpoons and flying gaffs in assisting with landing tuna and swordfish</a:t>
            </a:r>
          </a:p>
        </p:txBody>
      </p:sp>
      <p:pic>
        <p:nvPicPr>
          <p:cNvPr id="4" name="Picture 3" descr="Pro Series Flying Gaff | Morita Custom Gaffs">
            <a:extLst>
              <a:ext uri="{FF2B5EF4-FFF2-40B4-BE49-F238E27FC236}">
                <a16:creationId xmlns:a16="http://schemas.microsoft.com/office/drawing/2014/main" id="{9B556915-20C9-1E69-A5AD-81D925C7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281" y="2486074"/>
            <a:ext cx="2172155" cy="3860511"/>
          </a:xfrm>
          <a:prstGeom prst="rect">
            <a:avLst/>
          </a:prstGeom>
        </p:spPr>
      </p:pic>
      <p:pic>
        <p:nvPicPr>
          <p:cNvPr id="5" name="Picture 4" descr="Harpoon Category — American Bluefin Tuna Association">
            <a:extLst>
              <a:ext uri="{FF2B5EF4-FFF2-40B4-BE49-F238E27FC236}">
                <a16:creationId xmlns:a16="http://schemas.microsoft.com/office/drawing/2014/main" id="{AE02B14F-B8F7-62AA-CA4C-2169FDEBF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779" y="3427211"/>
            <a:ext cx="4124628" cy="274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13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05" y="992767"/>
            <a:ext cx="61280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sz="3333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3: California Endangered Species Act</a:t>
            </a:r>
            <a:r>
              <a:rPr lang="en" sz="3200">
                <a:solidFill>
                  <a:srgbClr val="666666"/>
                </a:solidFill>
              </a:rPr>
              <a:t> </a:t>
            </a:r>
            <a:endParaRPr sz="8666">
              <a:solidFill>
                <a:srgbClr val="666666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45200" y="4008300"/>
            <a:ext cx="5668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sz="2267"/>
              <a:t>Becca H, Clark H, Camilla P, Libby M</a:t>
            </a:r>
            <a:endParaRPr sz="2267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484" y="1"/>
            <a:ext cx="51435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291533"/>
            <a:ext cx="393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en" sz="2693">
                <a:latin typeface="Times New Roman"/>
                <a:ea typeface="Times New Roman"/>
                <a:cs typeface="Times New Roman"/>
                <a:sym typeface="Times New Roman"/>
              </a:rPr>
              <a:t>What is the California Endangered Species Act?</a:t>
            </a:r>
            <a:r>
              <a:rPr lang="en" sz="2573"/>
              <a:t> </a:t>
            </a:r>
            <a:endParaRPr sz="4613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64700" y="1536633"/>
            <a:ext cx="3932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62500" lnSpcReduction="10000"/>
          </a:bodyPr>
          <a:lstStyle/>
          <a:p>
            <a:pPr indent="-388610">
              <a:buSzPct val="101695"/>
              <a:buChar char="-"/>
            </a:pPr>
            <a:r>
              <a:rPr lang="en" sz="2360">
                <a:solidFill>
                  <a:srgbClr val="3B3A4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Law that conserves and protects plant and animal species at risk of extinction.</a:t>
            </a:r>
            <a:r>
              <a:rPr lang="en" sz="1893">
                <a:solidFill>
                  <a:schemeClr val="dk1"/>
                </a:solidFill>
              </a:rPr>
              <a:t> </a:t>
            </a:r>
            <a:endParaRPr sz="2827"/>
          </a:p>
          <a:p>
            <a:pPr indent="-388610">
              <a:spcBef>
                <a:spcPts val="1333"/>
              </a:spcBef>
              <a:buSzPct val="99248"/>
              <a:buChar char="-"/>
            </a:pPr>
            <a:r>
              <a:rPr lang="en" sz="2419">
                <a:solidFill>
                  <a:srgbClr val="3B3A4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Plant and animal species (or evolutionary significant units or distinct population segments) may be designated threatened or endangered under CESA after a formal listing process by the</a:t>
            </a:r>
            <a:r>
              <a:rPr lang="en" sz="2419">
                <a:solidFill>
                  <a:srgbClr val="3B3A48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2419" b="1" u="sng">
                <a:solidFill>
                  <a:srgbClr val="0338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California Fish and Game Commission</a:t>
            </a:r>
            <a:r>
              <a:rPr lang="en" sz="1952">
                <a:solidFill>
                  <a:schemeClr val="dk1"/>
                </a:solidFill>
              </a:rPr>
              <a:t> </a:t>
            </a:r>
            <a:endParaRPr sz="1952">
              <a:solidFill>
                <a:schemeClr val="dk1"/>
              </a:solidFill>
            </a:endParaRPr>
          </a:p>
          <a:p>
            <a:pPr indent="-388610">
              <a:spcBef>
                <a:spcPts val="1333"/>
              </a:spcBef>
              <a:buSzPct val="100000"/>
              <a:buChar char="-"/>
            </a:pPr>
            <a:r>
              <a:rPr lang="en"/>
              <a:t>Encoded in CA Game and Fish Code</a:t>
            </a:r>
            <a:endParaRPr/>
          </a:p>
          <a:p>
            <a:pPr indent="-388610">
              <a:spcBef>
                <a:spcPts val="1333"/>
              </a:spcBef>
              <a:buSzPct val="100000"/>
              <a:buChar char="-"/>
            </a:pPr>
            <a:r>
              <a:rPr lang="en"/>
              <a:t>First created 1970</a:t>
            </a:r>
            <a:endParaRPr/>
          </a:p>
          <a:p>
            <a:pPr indent="-388610">
              <a:spcBef>
                <a:spcPts val="1333"/>
              </a:spcBef>
              <a:spcAft>
                <a:spcPts val="1333"/>
              </a:spcAft>
              <a:buSzPct val="100000"/>
              <a:buChar char="-"/>
            </a:pPr>
            <a:r>
              <a:rPr lang="en"/>
              <a:t>~250 species currently listed as State-level threatened or endangered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8400" y="878604"/>
            <a:ext cx="7285064" cy="285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8401" y="3954904"/>
            <a:ext cx="7437201" cy="261873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5713400" y="209933"/>
            <a:ext cx="288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Federal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753467" y="209933"/>
            <a:ext cx="288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California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415600" y="190933"/>
            <a:ext cx="11444800" cy="763600"/>
          </a:xfrm>
          <a:prstGeom prst="rect">
            <a:avLst/>
          </a:prstGeom>
          <a:solidFill>
            <a:schemeClr val="lt1"/>
          </a:solidFill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en"/>
              <a:t>ESA                                         CESA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415600" y="1101100"/>
            <a:ext cx="5546400" cy="3316000"/>
          </a:xfrm>
          <a:prstGeom prst="rect">
            <a:avLst/>
          </a:prstGeom>
          <a:solidFill>
            <a:schemeClr val="lt1"/>
          </a:solidFill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har char="-"/>
            </a:pPr>
            <a:r>
              <a:rPr lang="en"/>
              <a:t>ESA includes “harass,” “harm,” and “incidental take” in prohibited actions</a:t>
            </a:r>
            <a:endParaRPr/>
          </a:p>
          <a:p>
            <a:pPr indent="0">
              <a:buNone/>
            </a:pPr>
            <a:endParaRPr/>
          </a:p>
          <a:p>
            <a:pPr>
              <a:buChar char="-"/>
            </a:pPr>
            <a:r>
              <a:rPr lang="en"/>
              <a:t>Expressly allows for wildlife populations to be listed as </a:t>
            </a:r>
            <a:r>
              <a:rPr lang="en" b="1"/>
              <a:t>Evolutionarily Significant Unit (ESU)s </a:t>
            </a:r>
            <a:r>
              <a:rPr lang="en"/>
              <a:t>and</a:t>
            </a:r>
            <a:r>
              <a:rPr lang="en" b="1"/>
              <a:t> Distinct Population Segments</a:t>
            </a:r>
            <a:r>
              <a:rPr lang="en"/>
              <a:t> in addition to species and subspecies (California has borrowed from this in the Courts, Commissions, and Department to authorize DPS listings)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2"/>
          </p:nvPr>
        </p:nvSpPr>
        <p:spPr>
          <a:xfrm>
            <a:off x="6179833" y="1101100"/>
            <a:ext cx="5680400" cy="5600400"/>
          </a:xfrm>
          <a:prstGeom prst="rect">
            <a:avLst/>
          </a:prstGeom>
          <a:solidFill>
            <a:schemeClr val="lt1"/>
          </a:solidFill>
        </p:spPr>
        <p:txBody>
          <a:bodyPr spcFirstLastPara="1" vert="horz" wrap="square" lIns="121900" tIns="121900" rIns="121900" bIns="121900" rtlCol="0" anchor="t" anchorCtr="0">
            <a:normAutofit fontScale="92500"/>
          </a:bodyPr>
          <a:lstStyle/>
          <a:p>
            <a:pPr indent="-405543">
              <a:buSzPct val="100000"/>
              <a:buChar char="-"/>
            </a:pPr>
            <a:r>
              <a:rPr lang="en"/>
              <a:t>Has </a:t>
            </a:r>
            <a:r>
              <a:rPr lang="en" b="1"/>
              <a:t>“Accidental take”</a:t>
            </a:r>
            <a:r>
              <a:rPr lang="en"/>
              <a:t> instead: “Accidental (unintended or unforeseen) take of candidate, threatened, or endangered species is not prohibited if it is the result of an act that occurs on a farm or ranch in the course of an otherwise lawful routine and ongoing agricultural activity.”</a:t>
            </a:r>
            <a:endParaRPr/>
          </a:p>
          <a:p>
            <a:pPr indent="0">
              <a:buNone/>
            </a:pPr>
            <a:endParaRPr/>
          </a:p>
          <a:p>
            <a:pPr indent="-405543">
              <a:buSzPct val="100000"/>
              <a:buChar char="-"/>
            </a:pPr>
            <a:r>
              <a:rPr lang="en"/>
              <a:t>Unique program:</a:t>
            </a:r>
            <a:r>
              <a:rPr lang="en" b="1"/>
              <a:t> Voluntary Local Program (VLP) </a:t>
            </a:r>
            <a:r>
              <a:rPr lang="en"/>
              <a:t>encourages farmers and ag ranchers to voluntarily enhance/maintain habitat for listed species; incidental take occurring while following specific management practices is okay </a:t>
            </a:r>
            <a:endParaRPr/>
          </a:p>
          <a:p>
            <a:pPr marL="0" indent="0">
              <a:buNone/>
            </a:pPr>
            <a:endParaRPr/>
          </a:p>
          <a:p>
            <a:pPr indent="-380144">
              <a:buSzPct val="72358"/>
              <a:buChar char="-"/>
            </a:pPr>
            <a:r>
              <a:rPr lang="en" sz="1929"/>
              <a:t>“Candidate” species are afforded full protections until a decision is made</a:t>
            </a:r>
            <a:endParaRPr sz="2024"/>
          </a:p>
          <a:p>
            <a:pPr indent="-405543">
              <a:spcBef>
                <a:spcPts val="1333"/>
              </a:spcBef>
              <a:buSzPct val="100000"/>
              <a:buChar char="-"/>
            </a:pPr>
            <a:r>
              <a:rPr lang="en"/>
              <a:t>Also includes a </a:t>
            </a:r>
            <a:r>
              <a:rPr lang="en" b="1"/>
              <a:t>“Consistency Determination” </a:t>
            </a:r>
            <a:r>
              <a:rPr lang="en"/>
              <a:t>where applicants who get an incidental take statement for a listed species can request determination from the Director that the federal document is consistent with CESA</a:t>
            </a:r>
            <a:endParaRPr/>
          </a:p>
          <a:p>
            <a:pPr indent="0">
              <a:buNone/>
            </a:pPr>
            <a:endParaRPr/>
          </a:p>
          <a:p>
            <a:pPr indent="-405543">
              <a:buSzPct val="100000"/>
              <a:buChar char="-"/>
            </a:pPr>
            <a:r>
              <a:rPr lang="en"/>
              <a:t>Act is limited to </a:t>
            </a:r>
            <a:r>
              <a:rPr lang="en" b="1"/>
              <a:t>species and subspecies</a:t>
            </a:r>
            <a:r>
              <a:rPr lang="en"/>
              <a:t> officially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367" y="4417267"/>
            <a:ext cx="4339100" cy="244073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4247833" y="3951600"/>
            <a:ext cx="1848000" cy="1341600"/>
          </a:xfrm>
          <a:prstGeom prst="wedgeEllipseCallout">
            <a:avLst>
              <a:gd name="adj1" fmla="val -63611"/>
              <a:gd name="adj2" fmla="val 4748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I was listed as a DPS in Central CA!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Submit a Petition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4922000" cy="4555200"/>
          </a:xfrm>
          <a:prstGeom prst="rect">
            <a:avLst/>
          </a:prstGeom>
          <a:solidFill>
            <a:srgbClr val="FFFFFF"/>
          </a:solidFill>
        </p:spPr>
        <p:txBody>
          <a:bodyPr spcFirstLastPara="1" vert="horz" wrap="square" lIns="121900" tIns="121900" rIns="121900" bIns="121900" rtlCol="0" anchor="t" anchorCtr="0">
            <a:normAutofit fontScale="85000" lnSpcReduction="20000"/>
          </a:bodyPr>
          <a:lstStyle/>
          <a:p>
            <a:pPr indent="-422900"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Fill out the following form: </a:t>
            </a:r>
            <a:r>
              <a:rPr lang="en" b="1" u="sng">
                <a:solidFill>
                  <a:schemeClr val="dk1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Complete FGC Form 670.1</a:t>
            </a: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(PDF)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422900"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Complete a CESA petition that should include:</a:t>
            </a:r>
            <a:endParaRPr>
              <a:solidFill>
                <a:schemeClr val="dk1"/>
              </a:solidFill>
            </a:endParaRPr>
          </a:p>
          <a:p>
            <a:pPr lvl="1" indent="-422899"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Statement explaining why petitioned action is being recommended (executive summary)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422900">
              <a:buClr>
                <a:schemeClr val="dk1"/>
              </a:buClr>
              <a:buSzPct val="163636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Submit the completed Form 670.1 and petition to the California Fish and Game Commission to the Commission's email at fgc@fgc.ca.gov or mail to P.O. Box 944209, Sacramento, CA 94244-2090.</a:t>
            </a:r>
            <a:endParaRPr sz="1467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096000" y="100601"/>
            <a:ext cx="5915600" cy="669865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933" b="1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What should the Petition include? </a:t>
            </a: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(Categories are ours, requirements are CESA’s)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</a:pPr>
            <a:r>
              <a:rPr lang="en" sz="1933" b="1" i="1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Species Description:</a:t>
            </a:r>
            <a:endParaRPr sz="1933" b="1" i="1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Population trends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Range and Distribution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Abundance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Life History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Kind of Habitat Necessary for Survival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>
              <a:lnSpc>
                <a:spcPct val="115000"/>
              </a:lnSpc>
            </a:pPr>
            <a:endParaRPr sz="1200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</a:pPr>
            <a:r>
              <a:rPr lang="en" sz="1933" b="1" i="1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Threats and Management Recommendations:</a:t>
            </a:r>
            <a:endParaRPr sz="1933" b="1" i="1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Factors affecting ability to survive and reproduce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Degree and immediacy of threat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Impact of existing management efforts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Suggestions for future management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>
              <a:lnSpc>
                <a:spcPct val="115000"/>
              </a:lnSpc>
            </a:pPr>
            <a:endParaRPr sz="1200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</a:pPr>
            <a:r>
              <a:rPr lang="en" sz="1933" b="1" i="1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Additional Information:</a:t>
            </a:r>
            <a:endParaRPr sz="1933" b="1" i="1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Availability of sources of information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7556">
              <a:lnSpc>
                <a:spcPct val="115000"/>
              </a:lnSpc>
              <a:buClr>
                <a:srgbClr val="222222"/>
              </a:buClr>
              <a:buSzPts val="1450"/>
              <a:buFont typeface="Roboto"/>
              <a:buChar char="○"/>
            </a:pPr>
            <a:r>
              <a:rPr lang="en" sz="1933">
                <a:solidFill>
                  <a:srgbClr val="222222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Detailed distribution map</a:t>
            </a:r>
            <a:endParaRPr sz="1933">
              <a:solidFill>
                <a:srgbClr val="222222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53155"/>
          <a:stretch/>
        </p:blipFill>
        <p:spPr>
          <a:xfrm>
            <a:off x="1242697" y="18733"/>
            <a:ext cx="9706619" cy="682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t="47377"/>
          <a:stretch/>
        </p:blipFill>
        <p:spPr>
          <a:xfrm>
            <a:off x="2016275" y="0"/>
            <a:ext cx="86883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What is the Petition Process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AutoNum type="arabicPeriod"/>
            </a:pPr>
            <a:r>
              <a:rPr lang="en"/>
              <a:t>Commission receives and reviews petition. If complete, forwarded to Department staff within 10d.</a:t>
            </a:r>
            <a:endParaRPr/>
          </a:p>
          <a:p>
            <a:pPr>
              <a:buAutoNum type="arabicPeriod"/>
            </a:pPr>
            <a:r>
              <a:rPr lang="en"/>
              <a:t>Department evaluates petition for state listing criteria. Publishes report within 90d.</a:t>
            </a:r>
            <a:endParaRPr/>
          </a:p>
          <a:p>
            <a:pPr>
              <a:buAutoNum type="arabicPeriod"/>
            </a:pPr>
            <a:r>
              <a:rPr lang="en"/>
              <a:t>Commission reviews report and petition. Determines if petition moves forward and can designate as “candidate species” until listing process completed.</a:t>
            </a:r>
            <a:endParaRPr/>
          </a:p>
          <a:p>
            <a:pPr>
              <a:buAutoNum type="arabicPeriod"/>
            </a:pPr>
            <a:r>
              <a:rPr lang="en"/>
              <a:t>Department publishes species status report within 12 mo.</a:t>
            </a:r>
            <a:endParaRPr/>
          </a:p>
          <a:p>
            <a:pPr>
              <a:buAutoNum type="arabicPeriod"/>
            </a:pPr>
            <a:r>
              <a:rPr lang="en"/>
              <a:t>Commission reviews and makes final listing determination.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5443</TotalTime>
  <Words>1316</Words>
  <Application>Microsoft Macintosh PowerPoint</Application>
  <PresentationFormat>Widescreen</PresentationFormat>
  <Paragraphs>143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Roboto</vt:lpstr>
      <vt:lpstr>Times New Roman</vt:lpstr>
      <vt:lpstr>Office Theme</vt:lpstr>
      <vt:lpstr>California Fish and Game Commission Activity</vt:lpstr>
      <vt:lpstr>Background on the CFGC</vt:lpstr>
      <vt:lpstr>Public Participation &amp; Transparency</vt:lpstr>
      <vt:lpstr>California Wildlife Agencies</vt:lpstr>
      <vt:lpstr>Structure of the Committee</vt:lpstr>
      <vt:lpstr>Structure of the Committee</vt:lpstr>
      <vt:lpstr>CFGC Strategic Planning</vt:lpstr>
      <vt:lpstr>CFGC Strategic Planning</vt:lpstr>
      <vt:lpstr>California vs Colorado </vt:lpstr>
      <vt:lpstr>Commission Structure</vt:lpstr>
      <vt:lpstr>How often and which committees?</vt:lpstr>
      <vt:lpstr>Which policies and legislative procedures?</vt:lpstr>
      <vt:lpstr>e.g. Proposed legislation being considered</vt:lpstr>
      <vt:lpstr>Group 3: California Endangered Species Act </vt:lpstr>
      <vt:lpstr>What is the California Endangered Species Act? </vt:lpstr>
      <vt:lpstr>ESA                                         CESA</vt:lpstr>
      <vt:lpstr>How to Submit a Petition</vt:lpstr>
      <vt:lpstr>PowerPoint Presentation</vt:lpstr>
      <vt:lpstr>PowerPoint Presentation</vt:lpstr>
      <vt:lpstr>What is the Petition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Fox,Holden</dc:creator>
  <cp:lastModifiedBy>Erica Robertson</cp:lastModifiedBy>
  <cp:revision>3</cp:revision>
  <dcterms:created xsi:type="dcterms:W3CDTF">2026-09-30T21:07:12Z</dcterms:created>
  <dcterms:modified xsi:type="dcterms:W3CDTF">2026-10-04T15:52:27Z</dcterms:modified>
</cp:coreProperties>
</file>