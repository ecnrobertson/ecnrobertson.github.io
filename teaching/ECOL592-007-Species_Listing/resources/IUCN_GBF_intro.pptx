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64" r:id="rId3"/>
    <p:sldId id="265" r:id="rId4"/>
    <p:sldId id="268" r:id="rId5"/>
    <p:sldId id="266" r:id="rId6"/>
    <p:sldId id="257" r:id="rId7"/>
    <p:sldId id="259" r:id="rId8"/>
    <p:sldId id="261" r:id="rId9"/>
    <p:sldId id="262" r:id="rId10"/>
    <p:sldId id="269" r:id="rId11"/>
    <p:sldId id="260" r:id="rId12"/>
    <p:sldId id="270" r:id="rId13"/>
    <p:sldId id="281" r:id="rId14"/>
    <p:sldId id="282" r:id="rId15"/>
    <p:sldId id="28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84110"/>
  </p:normalViewPr>
  <p:slideViewPr>
    <p:cSldViewPr snapToGrid="0">
      <p:cViewPr varScale="1">
        <p:scale>
          <a:sx n="96" d="100"/>
          <a:sy n="96" d="100"/>
        </p:scale>
        <p:origin x="176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3F6A40-99C4-6544-905A-A025936DBC0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1840B8-E582-6E44-9E68-439566DD72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988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A.3 looks primarily at species-level extinction risk.</a:t>
            </a:r>
            <a:br>
              <a:rPr lang="en-US" dirty="0"/>
            </a:br>
            <a:r>
              <a:rPr lang="en-US" b="1" dirty="0"/>
              <a:t>A.4 looks below the species level at population genetic vulnerability.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1840B8-E582-6E44-9E68-439566DD72E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294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CITES: Convention on International Trade in Endangered Species of Wild Fauna and Flora</a:t>
            </a:r>
          </a:p>
          <a:p>
            <a:r>
              <a:rPr lang="en-US" dirty="0"/>
              <a:t>CMS: Convention on Migratory Species</a:t>
            </a:r>
          </a:p>
          <a:p>
            <a:r>
              <a:rPr lang="en-US" dirty="0"/>
              <a:t>GBF: Global Biodiversity Framework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1840B8-E582-6E44-9E68-439566DD72E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657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1BC81-92F9-DC0D-BFD3-0984DB157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F47FF-E932-F104-83AC-9BA0BDC891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94EF48-0BE8-DE43-9A9C-2D6301DC7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A.3 looks primarily at species-level extinction risk.</a:t>
            </a:r>
            <a:br>
              <a:rPr lang="en-US" dirty="0"/>
            </a:br>
            <a:r>
              <a:rPr lang="en-US" b="1" dirty="0"/>
              <a:t>A.4 looks below the species level at population genetic vulnerability.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43990-FD92-E754-689D-B8705E331B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1840B8-E582-6E44-9E68-439566DD72E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9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621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55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097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517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315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93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642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589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993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377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945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1AEFEA-BAB7-704F-9805-739D7747D87B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208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2A598-8BF2-ACFC-0475-06B6E5BE40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Global Policy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B6498C-C5FD-24EB-AD22-320C479AC6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155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6D5E1-1388-D964-7350-20AC58B4E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Biodiversity Framework</a:t>
            </a:r>
          </a:p>
        </p:txBody>
      </p:sp>
      <p:pic>
        <p:nvPicPr>
          <p:cNvPr id="5122" name="Picture 2" descr="Cheat sheet to the Kunming-Montréal Global Biodiversity Framework | Centre  for Sustainable Area Management (CeSAM) | UiB">
            <a:extLst>
              <a:ext uri="{FF2B5EF4-FFF2-40B4-BE49-F238E27FC236}">
                <a16:creationId xmlns:a16="http://schemas.microsoft.com/office/drawing/2014/main" id="{EFC6FBDC-C025-0197-1688-BA6A1C655C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8016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96119-A7C4-99A7-A152-8D6A852E5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Biodiversity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CED6E-AD0F-183C-8713-5228DA99E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7704" y="2675544"/>
            <a:ext cx="5536096" cy="225960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GBF needs measurable indicators to determine whether countries and the international community are actually making progress toward these goals.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5E6A6-E12B-4AAB-68AD-507B05FA6AC0}"/>
              </a:ext>
            </a:extLst>
          </p:cNvPr>
          <p:cNvSpPr/>
          <p:nvPr/>
        </p:nvSpPr>
        <p:spPr>
          <a:xfrm>
            <a:off x="1262273" y="2655196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 Goals for 2025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F6A0F0-5481-336C-E849-0345305FC5CA}"/>
              </a:ext>
            </a:extLst>
          </p:cNvPr>
          <p:cNvSpPr/>
          <p:nvPr/>
        </p:nvSpPr>
        <p:spPr>
          <a:xfrm>
            <a:off x="1262273" y="3525464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23 Targets for 2030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DA11CE-0E44-F912-F486-FC90FF195966}"/>
              </a:ext>
            </a:extLst>
          </p:cNvPr>
          <p:cNvSpPr/>
          <p:nvPr/>
        </p:nvSpPr>
        <p:spPr>
          <a:xfrm>
            <a:off x="1262272" y="4395732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Headline + component + complementary indicators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CDAC8E0-3D1B-4915-26A8-7501566BB8D3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3003278" y="3214962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4CDEBC1-6BC4-885B-E60F-C3C0300EB7EF}"/>
              </a:ext>
            </a:extLst>
          </p:cNvPr>
          <p:cNvCxnSpPr>
            <a:cxnSpLocks/>
          </p:cNvCxnSpPr>
          <p:nvPr/>
        </p:nvCxnSpPr>
        <p:spPr>
          <a:xfrm>
            <a:off x="3003275" y="4085230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595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5D331-29FE-0DA2-B647-4F725B2C2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the IUCN Red List fit into the GBF?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DB10D-941E-B604-3E71-D1B302FC6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039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9DED2-2A9D-5D00-1C7B-27CD1D5EF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the Red List 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82009-65F0-E849-0BC8-CD0C12929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3833"/>
            <a:ext cx="10515600" cy="1421158"/>
          </a:xfr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ysClr val="windowText" lastClr="000000"/>
                </a:solidFill>
              </a:rPr>
              <a:t>Goal A</a:t>
            </a:r>
          </a:p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Maintain ecosystem integrity, reduce extinction risk, increase abundance of native species, and maintain genetic diversity.</a:t>
            </a:r>
          </a:p>
          <a:p>
            <a:pPr marL="0" indent="0">
              <a:buNone/>
            </a:pP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7DF8EEC-22E8-91C4-B909-A72B95C6EBDA}"/>
              </a:ext>
            </a:extLst>
          </p:cNvPr>
          <p:cNvSpPr txBox="1">
            <a:spLocks/>
          </p:cNvSpPr>
          <p:nvPr/>
        </p:nvSpPr>
        <p:spPr>
          <a:xfrm>
            <a:off x="838200" y="3152431"/>
            <a:ext cx="10515600" cy="142115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Target 4</a:t>
            </a:r>
          </a:p>
          <a:p>
            <a:pPr marL="0" indent="0">
              <a:buNone/>
            </a:pPr>
            <a:r>
              <a:rPr lang="en-US" dirty="0"/>
              <a:t>Halt species extinction, protect genetic diversity, and manage human–wildlife conflicts.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9DAEE22-2DAD-0D8E-26D5-BFCED38678FF}"/>
              </a:ext>
            </a:extLst>
          </p:cNvPr>
          <p:cNvSpPr txBox="1">
            <a:spLocks/>
          </p:cNvSpPr>
          <p:nvPr/>
        </p:nvSpPr>
        <p:spPr>
          <a:xfrm>
            <a:off x="838200" y="4768644"/>
            <a:ext cx="5257800" cy="142115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A.3 — Red List Index</a:t>
            </a:r>
            <a:br>
              <a:rPr lang="en-US" dirty="0"/>
            </a:br>
            <a:r>
              <a:rPr lang="en-US" i="1" dirty="0"/>
              <a:t>Are extinction risks across species improving or worsening?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0273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ED48-197A-8F1A-E3EE-F7AB441C2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IUCN Red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DEF9D-80C0-0665-1F9C-FAA510E58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388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Global system for assessing the extinction risk of species</a:t>
            </a:r>
          </a:p>
          <a:p>
            <a:r>
              <a:rPr lang="en-US" dirty="0"/>
              <a:t>Uses standardized, quantitative criteria</a:t>
            </a:r>
          </a:p>
          <a:p>
            <a:r>
              <a:rPr lang="en-US" dirty="0"/>
              <a:t>Assessments also compile information on distribution, population, ecology, threats, use/trade, and conservation actions</a:t>
            </a:r>
          </a:p>
          <a:p>
            <a:r>
              <a:rPr lang="en-US" dirty="0"/>
              <a:t>Important distinction: </a:t>
            </a:r>
            <a:r>
              <a:rPr lang="en-US" b="1" dirty="0"/>
              <a:t>Red List status is an assessment of extinction risk, not itself a legal protection</a:t>
            </a:r>
          </a:p>
          <a:p>
            <a:endParaRPr lang="en-US" dirty="0"/>
          </a:p>
        </p:txBody>
      </p:sp>
      <p:pic>
        <p:nvPicPr>
          <p:cNvPr id="1033" name="Picture 9" descr="All About IUCN International Union for Conservation of Nature">
            <a:extLst>
              <a:ext uri="{FF2B5EF4-FFF2-40B4-BE49-F238E27FC236}">
                <a16:creationId xmlns:a16="http://schemas.microsoft.com/office/drawing/2014/main" id="{48A2F851-3D3B-CCEF-7F70-903E5B55F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7206" y="1460501"/>
            <a:ext cx="5854794" cy="5032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1990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6A550-D6D7-779C-7F95-3B72252AD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IUCN Categorization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B8D5A-D64E-343E-F140-4985CDD525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41605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Taxa Assessed:</a:t>
            </a:r>
          </a:p>
          <a:p>
            <a:pPr lvl="1"/>
            <a:r>
              <a:rPr lang="en-US" dirty="0"/>
              <a:t>Species</a:t>
            </a:r>
          </a:p>
          <a:p>
            <a:pPr lvl="1"/>
            <a:r>
              <a:rPr lang="en-US" dirty="0"/>
              <a:t>Subspecies</a:t>
            </a:r>
          </a:p>
          <a:p>
            <a:pPr lvl="1"/>
            <a:r>
              <a:rPr lang="en-US" dirty="0"/>
              <a:t>Varieties (only for plants)</a:t>
            </a:r>
          </a:p>
          <a:p>
            <a:pPr lvl="1"/>
            <a:r>
              <a:rPr lang="en-US" dirty="0"/>
              <a:t>Subpopulations (provided certain conditions are met)</a:t>
            </a:r>
          </a:p>
          <a:p>
            <a:r>
              <a:rPr lang="en-US" dirty="0"/>
              <a:t>The IUCN criteria are designed for global taxa assessments</a:t>
            </a:r>
          </a:p>
          <a:p>
            <a:r>
              <a:rPr lang="en-US" dirty="0"/>
              <a:t>A species only needs to meet one criterion to qualify for a threatened category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97AAB64-3B5F-012A-2947-B98427FDC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638341"/>
              </p:ext>
            </p:extLst>
          </p:nvPr>
        </p:nvGraphicFramePr>
        <p:xfrm>
          <a:off x="5902996" y="2355374"/>
          <a:ext cx="5896107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53287">
                  <a:extLst>
                    <a:ext uri="{9D8B030D-6E8A-4147-A177-3AD203B41FA5}">
                      <a16:colId xmlns:a16="http://schemas.microsoft.com/office/drawing/2014/main" val="2436565690"/>
                    </a:ext>
                  </a:extLst>
                </a:gridCol>
                <a:gridCol w="4742820">
                  <a:extLst>
                    <a:ext uri="{9D8B030D-6E8A-4147-A177-3AD203B41FA5}">
                      <a16:colId xmlns:a16="http://schemas.microsoft.com/office/drawing/2014/main" val="12575008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Criterion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Broadly asks…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3223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the population declining substantially?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05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Is its geographic range small/restricted and declining or fragmented?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2757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the population small </a:t>
                      </a:r>
                      <a:r>
                        <a:rPr lang="en-US" b="1"/>
                        <a:t>and</a:t>
                      </a:r>
                      <a:r>
                        <a:rPr lang="en-US"/>
                        <a:t> declining?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826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the population or distribution extremely small?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699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does a quantitative extinction-risk analysis predict?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9926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50192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0A416-A2CC-81B3-ACA0-60BD95460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of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F7FD1-A763-2A8B-7229-96EB2B8EB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296788"/>
            <a:ext cx="5138530" cy="279938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Assessments are generally prepared by specialists, Species Survival Commission groups, Red List Authorities, partners, or other qualified assessors; they are reviewed and checked before publication.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612D66-9C95-D5AC-6D50-BE2B1F880B83}"/>
              </a:ext>
            </a:extLst>
          </p:cNvPr>
          <p:cNvSpPr/>
          <p:nvPr/>
        </p:nvSpPr>
        <p:spPr>
          <a:xfrm>
            <a:off x="1461054" y="1515510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Available Evidence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79A1D0-5ABD-5C7F-AF5E-CE95A58C0C33}"/>
              </a:ext>
            </a:extLst>
          </p:cNvPr>
          <p:cNvSpPr/>
          <p:nvPr/>
        </p:nvSpPr>
        <p:spPr>
          <a:xfrm>
            <a:off x="1461054" y="2385778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Species Assessment Against Criteria A-E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C77F55-1533-6036-0D96-9C22DA17B0A3}"/>
              </a:ext>
            </a:extLst>
          </p:cNvPr>
          <p:cNvSpPr/>
          <p:nvPr/>
        </p:nvSpPr>
        <p:spPr>
          <a:xfrm>
            <a:off x="1461053" y="3256046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Proposed Red List Category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1D3616-8AC6-9FA3-EB44-D9579EA19631}"/>
              </a:ext>
            </a:extLst>
          </p:cNvPr>
          <p:cNvSpPr/>
          <p:nvPr/>
        </p:nvSpPr>
        <p:spPr>
          <a:xfrm>
            <a:off x="1461053" y="4126314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Expert/ Red List Authority Review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A7518B-E6BB-9ACF-E1D1-8D499CCC70A3}"/>
              </a:ext>
            </a:extLst>
          </p:cNvPr>
          <p:cNvSpPr/>
          <p:nvPr/>
        </p:nvSpPr>
        <p:spPr>
          <a:xfrm>
            <a:off x="1461052" y="4996582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IUCN Red List Unit quality checks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3B2BAF-6853-E2ED-54A8-26621AD7C2FC}"/>
              </a:ext>
            </a:extLst>
          </p:cNvPr>
          <p:cNvSpPr/>
          <p:nvPr/>
        </p:nvSpPr>
        <p:spPr>
          <a:xfrm>
            <a:off x="1461052" y="5866848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Published Assessment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6C2AF3F-D417-9B1E-2997-9BB83FDA0B04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3202059" y="2075276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7584DD1-B364-F8EB-848C-7FD4CE405C4E}"/>
              </a:ext>
            </a:extLst>
          </p:cNvPr>
          <p:cNvCxnSpPr/>
          <p:nvPr/>
        </p:nvCxnSpPr>
        <p:spPr>
          <a:xfrm>
            <a:off x="3202056" y="2945544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AB66181-1CDD-AC42-F07A-CF9FA0ECF207}"/>
              </a:ext>
            </a:extLst>
          </p:cNvPr>
          <p:cNvCxnSpPr/>
          <p:nvPr/>
        </p:nvCxnSpPr>
        <p:spPr>
          <a:xfrm>
            <a:off x="3202056" y="3815812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A57E88E-C050-EEB6-C412-39F91C52FC3F}"/>
              </a:ext>
            </a:extLst>
          </p:cNvPr>
          <p:cNvCxnSpPr/>
          <p:nvPr/>
        </p:nvCxnSpPr>
        <p:spPr>
          <a:xfrm>
            <a:off x="3190463" y="4686080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D45A2B7-A082-BDB2-05FC-84780D7967A0}"/>
              </a:ext>
            </a:extLst>
          </p:cNvPr>
          <p:cNvCxnSpPr/>
          <p:nvPr/>
        </p:nvCxnSpPr>
        <p:spPr>
          <a:xfrm>
            <a:off x="3202056" y="5556346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885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41630-A727-9C1E-3720-27E1FE18E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Red List is not law but it informs 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3D19F-0FAE-5390-C981-1405A225A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IUCN Red List feeds into</a:t>
            </a:r>
          </a:p>
          <a:p>
            <a:pPr lvl="1"/>
            <a:r>
              <a:rPr lang="en-US" dirty="0"/>
              <a:t>conservation planning</a:t>
            </a:r>
          </a:p>
          <a:p>
            <a:pPr lvl="1"/>
            <a:r>
              <a:rPr lang="en-US" dirty="0"/>
              <a:t>national and regional conservation priorities</a:t>
            </a:r>
          </a:p>
          <a:p>
            <a:pPr lvl="1"/>
            <a:r>
              <a:rPr lang="en-US" dirty="0"/>
              <a:t>international agreements</a:t>
            </a:r>
          </a:p>
          <a:p>
            <a:pPr lvl="1"/>
            <a:r>
              <a:rPr lang="en-US" dirty="0"/>
              <a:t>global biodiversity indicators</a:t>
            </a:r>
          </a:p>
          <a:p>
            <a:r>
              <a:rPr lang="en-US" dirty="0"/>
              <a:t>Examples of international agreements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CITES - Red List information can inform decisions concerning international trade and revisions to CITES appendices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CMS - Red List information can inform decisions concerning migratory species and their conservation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GBF</a:t>
            </a:r>
          </a:p>
        </p:txBody>
      </p:sp>
    </p:spTree>
    <p:extLst>
      <p:ext uri="{BB962C8B-B14F-4D97-AF65-F5344CB8AC3E}">
        <p14:creationId xmlns:p14="http://schemas.microsoft.com/office/powerpoint/2010/main" val="19767482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8E4C-AE8F-E507-10B6-54124984C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2CB43-5534-34F6-5771-4C1C35F48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genetic indicator fit in?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2BD4D-7B77-ADC0-9A19-29ADC2FC0F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3833"/>
            <a:ext cx="10515600" cy="1421158"/>
          </a:xfr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ysClr val="windowText" lastClr="000000"/>
                </a:solidFill>
              </a:rPr>
              <a:t>Goal A</a:t>
            </a:r>
          </a:p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Maintain ecosystem integrity, reduce extinction risk, increase abundance of native species, and maintain genetic diversity.</a:t>
            </a:r>
          </a:p>
          <a:p>
            <a:pPr marL="0" indent="0">
              <a:buNone/>
            </a:pP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CEC2B8-D97F-6D08-F791-7FDC8CEED0B9}"/>
              </a:ext>
            </a:extLst>
          </p:cNvPr>
          <p:cNvSpPr txBox="1">
            <a:spLocks/>
          </p:cNvSpPr>
          <p:nvPr/>
        </p:nvSpPr>
        <p:spPr>
          <a:xfrm>
            <a:off x="838200" y="3152431"/>
            <a:ext cx="10515600" cy="142115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Target 4</a:t>
            </a:r>
          </a:p>
          <a:p>
            <a:pPr marL="0" indent="0">
              <a:buNone/>
            </a:pPr>
            <a:r>
              <a:rPr lang="en-US" dirty="0"/>
              <a:t>Halt species extinction, protect genetic diversity, and manage human–wildlife conflicts.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E47A588-E7AD-928E-C360-EC5C9D322EEB}"/>
              </a:ext>
            </a:extLst>
          </p:cNvPr>
          <p:cNvSpPr txBox="1">
            <a:spLocks/>
          </p:cNvSpPr>
          <p:nvPr/>
        </p:nvSpPr>
        <p:spPr>
          <a:xfrm>
            <a:off x="6281530" y="4763536"/>
            <a:ext cx="5257800" cy="142115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A.4 — Proportion of populations with Ne &gt; 500</a:t>
            </a:r>
            <a:br>
              <a:rPr lang="en-US" dirty="0"/>
            </a:br>
            <a:r>
              <a:rPr lang="en-US" i="1" dirty="0"/>
              <a:t>Are populations maintaining sufficient effective population sizes?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A357C04-04BE-C6CD-4940-7A7D772465B7}"/>
              </a:ext>
            </a:extLst>
          </p:cNvPr>
          <p:cNvSpPr txBox="1">
            <a:spLocks/>
          </p:cNvSpPr>
          <p:nvPr/>
        </p:nvSpPr>
        <p:spPr>
          <a:xfrm>
            <a:off x="838200" y="4768644"/>
            <a:ext cx="5257800" cy="142115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A.3 — Red List Index</a:t>
            </a:r>
            <a:br>
              <a:rPr lang="en-US" dirty="0"/>
            </a:br>
            <a:r>
              <a:rPr lang="en-US" i="1" dirty="0"/>
              <a:t>Are extinction risks across species improving or worsening?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44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D9FC5-8A1A-750F-A498-8C0A1D52C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Genetic Diversity in the Global Biodiversity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B25F4-E52F-4EB5-826A-89D5D9883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66201"/>
            <a:ext cx="4532826" cy="2647840"/>
          </a:xfrm>
        </p:spPr>
        <p:txBody>
          <a:bodyPr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Goal A</a:t>
            </a:r>
            <a:endParaRPr lang="en-US" b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/>
              <a:t>The genetic diversity </a:t>
            </a:r>
            <a:r>
              <a:rPr lang="en-US" b="1" dirty="0">
                <a:solidFill>
                  <a:schemeClr val="accent1"/>
                </a:solidFill>
              </a:rPr>
              <a:t>within populations</a:t>
            </a:r>
            <a:r>
              <a:rPr lang="en-US" dirty="0"/>
              <a:t> of </a:t>
            </a:r>
            <a:r>
              <a:rPr lang="en-US" b="1" dirty="0">
                <a:solidFill>
                  <a:schemeClr val="accent1"/>
                </a:solidFill>
              </a:rPr>
              <a:t>wild</a:t>
            </a:r>
            <a:r>
              <a:rPr lang="en-US" dirty="0"/>
              <a:t> and </a:t>
            </a:r>
            <a:r>
              <a:rPr lang="en-US" b="1" dirty="0">
                <a:solidFill>
                  <a:schemeClr val="accent1"/>
                </a:solidFill>
              </a:rPr>
              <a:t>domesticated</a:t>
            </a:r>
            <a:r>
              <a:rPr lang="en-US" dirty="0"/>
              <a:t> species, is maintained, safeguarding their adaptive potential.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15C719-FF17-0BAE-6CFF-C97C16B69D33}"/>
              </a:ext>
            </a:extLst>
          </p:cNvPr>
          <p:cNvSpPr txBox="1">
            <a:spLocks/>
          </p:cNvSpPr>
          <p:nvPr/>
        </p:nvSpPr>
        <p:spPr>
          <a:xfrm>
            <a:off x="6820975" y="1966201"/>
            <a:ext cx="4532824" cy="34045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b="1" dirty="0">
                <a:solidFill>
                  <a:schemeClr val="accent3"/>
                </a:solidFill>
              </a:rPr>
              <a:t>Target 4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…maintain and restore the genetic diversity </a:t>
            </a:r>
            <a:r>
              <a:rPr lang="en-US" b="1" u="sng" dirty="0">
                <a:solidFill>
                  <a:schemeClr val="accent3"/>
                </a:solidFill>
              </a:rPr>
              <a:t>within</a:t>
            </a:r>
            <a:r>
              <a:rPr lang="en-US" b="1" dirty="0">
                <a:solidFill>
                  <a:schemeClr val="accent3"/>
                </a:solidFill>
              </a:rPr>
              <a:t> and </a:t>
            </a:r>
            <a:r>
              <a:rPr lang="en-US" b="1" u="sng" dirty="0">
                <a:solidFill>
                  <a:schemeClr val="accent3"/>
                </a:solidFill>
              </a:rPr>
              <a:t>between</a:t>
            </a:r>
            <a:r>
              <a:rPr lang="en-US" b="1" dirty="0">
                <a:solidFill>
                  <a:schemeClr val="accent3"/>
                </a:solidFill>
              </a:rPr>
              <a:t> populations</a:t>
            </a:r>
            <a:r>
              <a:rPr lang="en-US" dirty="0"/>
              <a:t> of native, </a:t>
            </a:r>
            <a:r>
              <a:rPr lang="en-US" b="1" dirty="0">
                <a:solidFill>
                  <a:schemeClr val="accent3"/>
                </a:solidFill>
              </a:rPr>
              <a:t>wild</a:t>
            </a:r>
            <a:r>
              <a:rPr lang="en-US" dirty="0"/>
              <a:t> and </a:t>
            </a:r>
            <a:r>
              <a:rPr lang="en-US" b="1" dirty="0">
                <a:solidFill>
                  <a:schemeClr val="accent3"/>
                </a:solidFill>
              </a:rPr>
              <a:t>domesticated</a:t>
            </a:r>
            <a:r>
              <a:rPr lang="en-US" dirty="0"/>
              <a:t> species to maintain their adaptive potential.</a:t>
            </a:r>
          </a:p>
        </p:txBody>
      </p:sp>
      <p:pic>
        <p:nvPicPr>
          <p:cNvPr id="3074" name="Picture 2" descr="e-Learning Catalogue: The Kunming Montreal Global Biodiversity Framework –  Learning for Nature">
            <a:extLst>
              <a:ext uri="{FF2B5EF4-FFF2-40B4-BE49-F238E27FC236}">
                <a16:creationId xmlns:a16="http://schemas.microsoft.com/office/drawing/2014/main" id="{2B34FC35-7A6B-1781-D582-2630EA0272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7434" y="5233793"/>
            <a:ext cx="6737132" cy="151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6923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65070-BE24-6A5C-78A2-340768EC7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genetic indicators?</a:t>
            </a:r>
          </a:p>
        </p:txBody>
      </p:sp>
      <p:pic>
        <p:nvPicPr>
          <p:cNvPr id="1026" name="Picture 2" descr="Overview | Genetic Diversity Indicators">
            <a:extLst>
              <a:ext uri="{FF2B5EF4-FFF2-40B4-BE49-F238E27FC236}">
                <a16:creationId xmlns:a16="http://schemas.microsoft.com/office/drawing/2014/main" id="{7740B4BF-9D55-6B7E-449F-7E828CDE9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4208" y="1621198"/>
            <a:ext cx="8123583" cy="4555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55180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E6B44-6778-ACCF-611D-FD00097B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we’ve used the indicators</a:t>
            </a:r>
          </a:p>
        </p:txBody>
      </p:sp>
      <p:pic>
        <p:nvPicPr>
          <p:cNvPr id="5" name="Content Placeholder 4" descr="A green and white rectangular sign&#10;&#10;Description automatically generated">
            <a:extLst>
              <a:ext uri="{FF2B5EF4-FFF2-40B4-BE49-F238E27FC236}">
                <a16:creationId xmlns:a16="http://schemas.microsoft.com/office/drawing/2014/main" id="{8A2CF217-4943-632F-1F29-2FDA1BEDCA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1950" b="55864"/>
          <a:stretch/>
        </p:blipFill>
        <p:spPr>
          <a:xfrm>
            <a:off x="1651000" y="1690688"/>
            <a:ext cx="8716662" cy="1126653"/>
          </a:xfrm>
        </p:spPr>
      </p:pic>
      <p:pic>
        <p:nvPicPr>
          <p:cNvPr id="7" name="Picture 6" descr="A green and white rectangular sign&#10;&#10;Description automatically generated">
            <a:extLst>
              <a:ext uri="{FF2B5EF4-FFF2-40B4-BE49-F238E27FC236}">
                <a16:creationId xmlns:a16="http://schemas.microsoft.com/office/drawing/2014/main" id="{4735AEA7-7AED-3D1C-4DEF-9611AB3A3DC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4110"/>
          <a:stretch/>
        </p:blipFill>
        <p:spPr>
          <a:xfrm>
            <a:off x="1824338" y="2817341"/>
            <a:ext cx="8320560" cy="8773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3CAB4EF-7A63-98B4-CFC3-07F0D1768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8228" y="3796595"/>
            <a:ext cx="1803399" cy="11336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3B4310-0087-5274-ECEF-1FE9C56EEC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976" y="3796595"/>
            <a:ext cx="1803399" cy="1117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DB603FD-E4AC-AB47-F534-B366E2DF4B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2444" y="5214714"/>
            <a:ext cx="1801003" cy="11176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2D3A2BA-ACA3-7B3A-B99C-1872BC4577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2976" y="3837698"/>
            <a:ext cx="1803399" cy="11175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68C7C1B-1478-E95F-F690-9762A93B5E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2522" y="5237253"/>
            <a:ext cx="1803400" cy="11175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099AF5F-9C2C-A782-2250-110D2EBA1C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4828" y="5237252"/>
            <a:ext cx="1803400" cy="1117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A973AB6-5C6C-D52C-57F3-22F00061639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600" y="5237252"/>
            <a:ext cx="1803400" cy="1117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3B10DDE-B072-193E-CD39-E38DB748974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1634" y="3796595"/>
            <a:ext cx="1803400" cy="112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552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E6B44-6778-ACCF-611D-FD00097B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we’ve used the indicators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3B10DDE-B072-193E-CD39-E38DB7489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14" y="1690688"/>
            <a:ext cx="1803400" cy="1126653"/>
          </a:xfrm>
          <a:prstGeom prst="rect">
            <a:avLst/>
          </a:prstGeom>
        </p:spPr>
      </p:pic>
      <p:pic>
        <p:nvPicPr>
          <p:cNvPr id="4" name="Picture 3" descr="A diagram of different types of species&#10;&#10;AI-generated content may be incorrect.">
            <a:extLst>
              <a:ext uri="{FF2B5EF4-FFF2-40B4-BE49-F238E27FC236}">
                <a16:creationId xmlns:a16="http://schemas.microsoft.com/office/drawing/2014/main" id="{8465FE57-8DF5-F883-13A3-74B2B7F5D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215762"/>
            <a:ext cx="7772400" cy="527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570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E6B44-6778-ACCF-611D-FD00097B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we’ve used the indicators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3B10DDE-B072-193E-CD39-E38DB7489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14" y="1690688"/>
            <a:ext cx="1803400" cy="1126653"/>
          </a:xfrm>
          <a:prstGeom prst="rect">
            <a:avLst/>
          </a:prstGeom>
        </p:spPr>
      </p:pic>
      <p:pic>
        <p:nvPicPr>
          <p:cNvPr id="5" name="Picture 4" descr="A screenshot of a diagram&#10;&#10;AI-generated content may be incorrect.">
            <a:extLst>
              <a:ext uri="{FF2B5EF4-FFF2-40B4-BE49-F238E27FC236}">
                <a16:creationId xmlns:a16="http://schemas.microsoft.com/office/drawing/2014/main" id="{08C248D2-B12F-3F64-0082-2CFFAA8FB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228" y="1380901"/>
            <a:ext cx="5549543" cy="536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0034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55</TotalTime>
  <Words>620</Words>
  <Application>Microsoft Macintosh PowerPoint</Application>
  <PresentationFormat>Widescreen</PresentationFormat>
  <Paragraphs>81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Office 2013 - 2022 Theme</vt:lpstr>
      <vt:lpstr>Global Policy</vt:lpstr>
      <vt:lpstr>Global Biodiversity Framework</vt:lpstr>
      <vt:lpstr>Global Biodiversity Framework</vt:lpstr>
      <vt:lpstr>How does the IUCN Red List fit into the GBF?</vt:lpstr>
      <vt:lpstr>Where the Red List fits</vt:lpstr>
      <vt:lpstr>What is the IUCN Red List</vt:lpstr>
      <vt:lpstr>IUCN Categorization</vt:lpstr>
      <vt:lpstr>Flow of Information</vt:lpstr>
      <vt:lpstr>The Red List is not law but it informs policy</vt:lpstr>
      <vt:lpstr>How do genetic indicator fit in?</vt:lpstr>
      <vt:lpstr>Genetic Diversity in the Global Biodiversity Framework</vt:lpstr>
      <vt:lpstr>What are the genetic indicators?</vt:lpstr>
      <vt:lpstr>How we’ve used the indicators</vt:lpstr>
      <vt:lpstr>How we’ve used the indicators</vt:lpstr>
      <vt:lpstr>How we’ve used the indicators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Erica Robertson</dc:creator>
  <cp:lastModifiedBy>Erica Robertson</cp:lastModifiedBy>
  <cp:revision>7</cp:revision>
  <dcterms:created xsi:type="dcterms:W3CDTF">2026-09-21T14:37:01Z</dcterms:created>
  <dcterms:modified xsi:type="dcterms:W3CDTF">2026-09-23T20:41:32Z</dcterms:modified>
</cp:coreProperties>
</file>