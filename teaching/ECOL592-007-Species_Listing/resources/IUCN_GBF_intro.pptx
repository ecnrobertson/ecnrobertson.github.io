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8"/>
  </p:notesMasterIdLst>
  <p:sldIdLst>
    <p:sldId id="256" r:id="rId2"/>
    <p:sldId id="284" r:id="rId3"/>
    <p:sldId id="264" r:id="rId4"/>
    <p:sldId id="265" r:id="rId5"/>
    <p:sldId id="268" r:id="rId6"/>
    <p:sldId id="266" r:id="rId7"/>
    <p:sldId id="257" r:id="rId8"/>
    <p:sldId id="259" r:id="rId9"/>
    <p:sldId id="261" r:id="rId10"/>
    <p:sldId id="262" r:id="rId11"/>
    <p:sldId id="269" r:id="rId12"/>
    <p:sldId id="260" r:id="rId13"/>
    <p:sldId id="270" r:id="rId14"/>
    <p:sldId id="281" r:id="rId15"/>
    <p:sldId id="282" r:id="rId16"/>
    <p:sldId id="283"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153"/>
    <p:restoredTop sz="61233"/>
  </p:normalViewPr>
  <p:slideViewPr>
    <p:cSldViewPr snapToGrid="0">
      <p:cViewPr varScale="1">
        <p:scale>
          <a:sx n="75" d="100"/>
          <a:sy n="75" d="100"/>
        </p:scale>
        <p:origin x="97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3F6A40-99C4-6544-905A-A025936DBC02}" type="datetimeFigureOut">
              <a:rPr lang="en-US" smtClean="0"/>
              <a:t>9/23/26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1840B8-E582-6E44-9E68-439566DD72E5}" type="slidenum">
              <a:rPr lang="en-US" smtClean="0"/>
              <a:t>‹#›</a:t>
            </a:fld>
            <a:endParaRPr lang="en-US"/>
          </a:p>
        </p:txBody>
      </p:sp>
    </p:spTree>
    <p:extLst>
      <p:ext uri="{BB962C8B-B14F-4D97-AF65-F5344CB8AC3E}">
        <p14:creationId xmlns:p14="http://schemas.microsoft.com/office/powerpoint/2010/main" val="1668988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cbd.int/conferences/2021-2022"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https://www.cbd.int/conferences/post2020"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1840B8-E582-6E44-9E68-439566DD72E5}" type="slidenum">
              <a:rPr lang="en-US" smtClean="0"/>
              <a:t>1</a:t>
            </a:fld>
            <a:endParaRPr lang="en-US"/>
          </a:p>
        </p:txBody>
      </p:sp>
    </p:spTree>
    <p:extLst>
      <p:ext uri="{BB962C8B-B14F-4D97-AF65-F5344CB8AC3E}">
        <p14:creationId xmlns:p14="http://schemas.microsoft.com/office/powerpoint/2010/main" val="39577343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Contracting Parties are required to create and enforce national strategies and action plans to conserve, protect and enhance biological diversity. They are also required to undertake action to implement the thematic work </a:t>
            </a:r>
            <a:r>
              <a:rPr lang="en-US" sz="1200" b="0" i="0" kern="1200" dirty="0" err="1">
                <a:solidFill>
                  <a:schemeClr val="tx1"/>
                </a:solidFill>
                <a:effectLst/>
                <a:latin typeface="+mn-lt"/>
                <a:ea typeface="+mn-ea"/>
                <a:cs typeface="+mn-cs"/>
              </a:rPr>
              <a:t>programmes</a:t>
            </a:r>
            <a:r>
              <a:rPr lang="en-US" sz="1200" b="0" i="0" kern="1200" dirty="0">
                <a:solidFill>
                  <a:schemeClr val="tx1"/>
                </a:solidFill>
                <a:effectLst/>
                <a:latin typeface="+mn-lt"/>
                <a:ea typeface="+mn-ea"/>
                <a:cs typeface="+mn-cs"/>
              </a:rPr>
              <a:t> on ecosystems and a range of cross-cutting issues which have been established to take forward the provisions of the Convention.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Kunming-Montreal Global Biodiversity Framework (GBF) was adopted during the (2022) </a:t>
            </a:r>
            <a:r>
              <a:rPr lang="en-US" sz="1200" b="0" i="0" u="none" strike="noStrike" kern="1200" dirty="0">
                <a:solidFill>
                  <a:schemeClr val="tx1"/>
                </a:solidFill>
                <a:effectLst/>
                <a:latin typeface="+mn-lt"/>
                <a:ea typeface="+mn-ea"/>
                <a:cs typeface="+mn-cs"/>
                <a:hlinkClick r:id="rId3"/>
              </a:rPr>
              <a:t>fifteenth meeting of the Conference of the Parties (COP 15)</a:t>
            </a:r>
            <a:r>
              <a:rPr lang="en-US" sz="1200" b="0" i="0" kern="1200" dirty="0">
                <a:solidFill>
                  <a:schemeClr val="tx1"/>
                </a:solidFill>
                <a:effectLst/>
                <a:latin typeface="+mn-lt"/>
                <a:ea typeface="+mn-ea"/>
                <a:cs typeface="+mn-cs"/>
              </a:rPr>
              <a:t> following a four year </a:t>
            </a:r>
            <a:r>
              <a:rPr lang="en-US" sz="1200" b="0" i="0" u="none" strike="noStrike" kern="1200" dirty="0">
                <a:solidFill>
                  <a:schemeClr val="tx1"/>
                </a:solidFill>
                <a:effectLst/>
                <a:latin typeface="+mn-lt"/>
                <a:ea typeface="+mn-ea"/>
                <a:cs typeface="+mn-cs"/>
                <a:hlinkClick r:id="rId4"/>
              </a:rPr>
              <a:t>consultation and negotiation process</a:t>
            </a:r>
            <a:r>
              <a:rPr lang="en-US" sz="1200" b="0" i="0" kern="1200" dirty="0">
                <a:solidFill>
                  <a:schemeClr val="tx1"/>
                </a:solidFill>
                <a:effectLst/>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ets</a:t>
            </a:r>
            <a:r>
              <a:rPr lang="en-US" sz="1200" b="0" i="0" kern="1200" dirty="0">
                <a:solidFill>
                  <a:schemeClr val="tx1"/>
                </a:solidFill>
                <a:effectLst/>
                <a:latin typeface="+mn-lt"/>
                <a:ea typeface="+mn-ea"/>
                <a:cs typeface="+mn-cs"/>
              </a:rPr>
              <a:t> out an ambitious pathway to reach the global vision of a world living in harmony with nature by 2050. Among the Framework’s key elements are 4 goals for 2050 and 23 targets for 2030.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71840B8-E582-6E44-9E68-439566DD72E5}" type="slidenum">
              <a:rPr lang="en-US" smtClean="0"/>
              <a:t>2</a:t>
            </a:fld>
            <a:endParaRPr lang="en-US"/>
          </a:p>
        </p:txBody>
      </p:sp>
    </p:spTree>
    <p:extLst>
      <p:ext uri="{BB962C8B-B14F-4D97-AF65-F5344CB8AC3E}">
        <p14:creationId xmlns:p14="http://schemas.microsoft.com/office/powerpoint/2010/main" val="22194052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1840B8-E582-6E44-9E68-439566DD72E5}" type="slidenum">
              <a:rPr lang="en-US" smtClean="0"/>
              <a:t>3</a:t>
            </a:fld>
            <a:endParaRPr lang="en-US"/>
          </a:p>
        </p:txBody>
      </p:sp>
    </p:spTree>
    <p:extLst>
      <p:ext uri="{BB962C8B-B14F-4D97-AF65-F5344CB8AC3E}">
        <p14:creationId xmlns:p14="http://schemas.microsoft.com/office/powerpoint/2010/main" val="1922473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A.3 looks primarily at species-level extinction risk.</a:t>
            </a:r>
            <a:br>
              <a:rPr lang="en-US" dirty="0"/>
            </a:br>
            <a:r>
              <a:rPr lang="en-US" b="1" dirty="0"/>
              <a:t>A.4 looks below the species level at population genetic vulnerability.</a:t>
            </a:r>
            <a:endParaRPr lang="en-US" dirty="0"/>
          </a:p>
        </p:txBody>
      </p:sp>
      <p:sp>
        <p:nvSpPr>
          <p:cNvPr id="4" name="Slide Number Placeholder 3"/>
          <p:cNvSpPr>
            <a:spLocks noGrp="1"/>
          </p:cNvSpPr>
          <p:nvPr>
            <p:ph type="sldNum" sz="quarter" idx="5"/>
          </p:nvPr>
        </p:nvSpPr>
        <p:spPr/>
        <p:txBody>
          <a:bodyPr/>
          <a:lstStyle/>
          <a:p>
            <a:fld id="{971840B8-E582-6E44-9E68-439566DD72E5}" type="slidenum">
              <a:rPr lang="en-US" smtClean="0"/>
              <a:t>6</a:t>
            </a:fld>
            <a:endParaRPr lang="en-US"/>
          </a:p>
        </p:txBody>
      </p:sp>
    </p:spTree>
    <p:extLst>
      <p:ext uri="{BB962C8B-B14F-4D97-AF65-F5344CB8AC3E}">
        <p14:creationId xmlns:p14="http://schemas.microsoft.com/office/powerpoint/2010/main" val="17507294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CITES: Convention on International Trade in Endangered Species of Wild Fauna and Flora</a:t>
            </a:r>
          </a:p>
          <a:p>
            <a:r>
              <a:rPr lang="en-US" dirty="0"/>
              <a:t>CMS: Convention on Migratory Species</a:t>
            </a:r>
          </a:p>
          <a:p>
            <a:r>
              <a:rPr lang="en-US" dirty="0"/>
              <a:t>GBF: Global Biodiversity Framework</a:t>
            </a:r>
          </a:p>
          <a:p>
            <a:endParaRPr lang="en-US" dirty="0"/>
          </a:p>
        </p:txBody>
      </p:sp>
      <p:sp>
        <p:nvSpPr>
          <p:cNvPr id="4" name="Slide Number Placeholder 3"/>
          <p:cNvSpPr>
            <a:spLocks noGrp="1"/>
          </p:cNvSpPr>
          <p:nvPr>
            <p:ph type="sldNum" sz="quarter" idx="5"/>
          </p:nvPr>
        </p:nvSpPr>
        <p:spPr/>
        <p:txBody>
          <a:bodyPr/>
          <a:lstStyle/>
          <a:p>
            <a:fld id="{971840B8-E582-6E44-9E68-439566DD72E5}" type="slidenum">
              <a:rPr lang="en-US" smtClean="0"/>
              <a:t>10</a:t>
            </a:fld>
            <a:endParaRPr lang="en-US"/>
          </a:p>
        </p:txBody>
      </p:sp>
    </p:spTree>
    <p:extLst>
      <p:ext uri="{BB962C8B-B14F-4D97-AF65-F5344CB8AC3E}">
        <p14:creationId xmlns:p14="http://schemas.microsoft.com/office/powerpoint/2010/main" val="1878265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1BC81-92F9-DC0D-BFD3-0984DB1573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FF47FF-E932-F104-83AC-9BA0BDC891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94EF48-0BE8-DE43-9A9C-2D6301DC7A54}"/>
              </a:ext>
            </a:extLst>
          </p:cNvPr>
          <p:cNvSpPr>
            <a:spLocks noGrp="1"/>
          </p:cNvSpPr>
          <p:nvPr>
            <p:ph type="body" idx="1"/>
          </p:nvPr>
        </p:nvSpPr>
        <p:spPr/>
        <p:txBody>
          <a:bodyPr/>
          <a:lstStyle/>
          <a:p>
            <a:r>
              <a:rPr lang="en-US" b="1" dirty="0"/>
              <a:t>A.3 looks primarily at species-level extinction risk.</a:t>
            </a:r>
            <a:br>
              <a:rPr lang="en-US" dirty="0"/>
            </a:br>
            <a:r>
              <a:rPr lang="en-US" b="1" dirty="0"/>
              <a:t>A.4 looks below the species level at population genetic vulnerability.</a:t>
            </a:r>
            <a:endParaRPr lang="en-US" dirty="0"/>
          </a:p>
        </p:txBody>
      </p:sp>
      <p:sp>
        <p:nvSpPr>
          <p:cNvPr id="4" name="Slide Number Placeholder 3">
            <a:extLst>
              <a:ext uri="{FF2B5EF4-FFF2-40B4-BE49-F238E27FC236}">
                <a16:creationId xmlns:a16="http://schemas.microsoft.com/office/drawing/2014/main" id="{B5643990-FD92-E754-689D-B8705E331BDB}"/>
              </a:ext>
            </a:extLst>
          </p:cNvPr>
          <p:cNvSpPr>
            <a:spLocks noGrp="1"/>
          </p:cNvSpPr>
          <p:nvPr>
            <p:ph type="sldNum" sz="quarter" idx="5"/>
          </p:nvPr>
        </p:nvSpPr>
        <p:spPr/>
        <p:txBody>
          <a:bodyPr/>
          <a:lstStyle/>
          <a:p>
            <a:fld id="{971840B8-E582-6E44-9E68-439566DD72E5}" type="slidenum">
              <a:rPr lang="en-US" smtClean="0"/>
              <a:t>11</a:t>
            </a:fld>
            <a:endParaRPr lang="en-US"/>
          </a:p>
        </p:txBody>
      </p:sp>
    </p:spTree>
    <p:extLst>
      <p:ext uri="{BB962C8B-B14F-4D97-AF65-F5344CB8AC3E}">
        <p14:creationId xmlns:p14="http://schemas.microsoft.com/office/powerpoint/2010/main" val="17869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1AEFEA-BAB7-704F-9805-739D7747D87B}" type="datetimeFigureOut">
              <a:rPr lang="en-US" smtClean="0"/>
              <a:t>9/23/26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07A40E-3D9D-F847-8D7C-7210A9C3C436}" type="slidenum">
              <a:rPr lang="en-US" smtClean="0"/>
              <a:t>‹#›</a:t>
            </a:fld>
            <a:endParaRPr lang="en-US"/>
          </a:p>
        </p:txBody>
      </p:sp>
    </p:spTree>
    <p:extLst>
      <p:ext uri="{BB962C8B-B14F-4D97-AF65-F5344CB8AC3E}">
        <p14:creationId xmlns:p14="http://schemas.microsoft.com/office/powerpoint/2010/main" val="2708621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1AEFEA-BAB7-704F-9805-739D7747D87B}" type="datetimeFigureOut">
              <a:rPr lang="en-US" smtClean="0"/>
              <a:t>9/23/26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07A40E-3D9D-F847-8D7C-7210A9C3C436}" type="slidenum">
              <a:rPr lang="en-US" smtClean="0"/>
              <a:t>‹#›</a:t>
            </a:fld>
            <a:endParaRPr lang="en-US"/>
          </a:p>
        </p:txBody>
      </p:sp>
    </p:spTree>
    <p:extLst>
      <p:ext uri="{BB962C8B-B14F-4D97-AF65-F5344CB8AC3E}">
        <p14:creationId xmlns:p14="http://schemas.microsoft.com/office/powerpoint/2010/main" val="1066555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1AEFEA-BAB7-704F-9805-739D7747D87B}" type="datetimeFigureOut">
              <a:rPr lang="en-US" smtClean="0"/>
              <a:t>9/23/26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07A40E-3D9D-F847-8D7C-7210A9C3C436}" type="slidenum">
              <a:rPr lang="en-US" smtClean="0"/>
              <a:t>‹#›</a:t>
            </a:fld>
            <a:endParaRPr lang="en-US"/>
          </a:p>
        </p:txBody>
      </p:sp>
    </p:spTree>
    <p:extLst>
      <p:ext uri="{BB962C8B-B14F-4D97-AF65-F5344CB8AC3E}">
        <p14:creationId xmlns:p14="http://schemas.microsoft.com/office/powerpoint/2010/main" val="3054097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1AEFEA-BAB7-704F-9805-739D7747D87B}" type="datetimeFigureOut">
              <a:rPr lang="en-US" smtClean="0"/>
              <a:t>9/23/26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07A40E-3D9D-F847-8D7C-7210A9C3C436}" type="slidenum">
              <a:rPr lang="en-US" smtClean="0"/>
              <a:t>‹#›</a:t>
            </a:fld>
            <a:endParaRPr lang="en-US"/>
          </a:p>
        </p:txBody>
      </p:sp>
    </p:spTree>
    <p:extLst>
      <p:ext uri="{BB962C8B-B14F-4D97-AF65-F5344CB8AC3E}">
        <p14:creationId xmlns:p14="http://schemas.microsoft.com/office/powerpoint/2010/main" val="2524517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1AEFEA-BAB7-704F-9805-739D7747D87B}" type="datetimeFigureOut">
              <a:rPr lang="en-US" smtClean="0"/>
              <a:t>9/23/26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907A40E-3D9D-F847-8D7C-7210A9C3C436}" type="slidenum">
              <a:rPr lang="en-US" smtClean="0"/>
              <a:t>‹#›</a:t>
            </a:fld>
            <a:endParaRPr lang="en-US"/>
          </a:p>
        </p:txBody>
      </p:sp>
    </p:spTree>
    <p:extLst>
      <p:ext uri="{BB962C8B-B14F-4D97-AF65-F5344CB8AC3E}">
        <p14:creationId xmlns:p14="http://schemas.microsoft.com/office/powerpoint/2010/main" val="1433315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1AEFEA-BAB7-704F-9805-739D7747D87B}" type="datetimeFigureOut">
              <a:rPr lang="en-US" smtClean="0"/>
              <a:t>9/23/26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907A40E-3D9D-F847-8D7C-7210A9C3C436}" type="slidenum">
              <a:rPr lang="en-US" smtClean="0"/>
              <a:t>‹#›</a:t>
            </a:fld>
            <a:endParaRPr lang="en-US"/>
          </a:p>
        </p:txBody>
      </p:sp>
    </p:spTree>
    <p:extLst>
      <p:ext uri="{BB962C8B-B14F-4D97-AF65-F5344CB8AC3E}">
        <p14:creationId xmlns:p14="http://schemas.microsoft.com/office/powerpoint/2010/main" val="15428932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1AEFEA-BAB7-704F-9805-739D7747D87B}" type="datetimeFigureOut">
              <a:rPr lang="en-US" smtClean="0"/>
              <a:t>9/23/26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907A40E-3D9D-F847-8D7C-7210A9C3C436}" type="slidenum">
              <a:rPr lang="en-US" smtClean="0"/>
              <a:t>‹#›</a:t>
            </a:fld>
            <a:endParaRPr lang="en-US"/>
          </a:p>
        </p:txBody>
      </p:sp>
    </p:spTree>
    <p:extLst>
      <p:ext uri="{BB962C8B-B14F-4D97-AF65-F5344CB8AC3E}">
        <p14:creationId xmlns:p14="http://schemas.microsoft.com/office/powerpoint/2010/main" val="3851642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1AEFEA-BAB7-704F-9805-739D7747D87B}" type="datetimeFigureOut">
              <a:rPr lang="en-US" smtClean="0"/>
              <a:t>9/23/26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07A40E-3D9D-F847-8D7C-7210A9C3C436}" type="slidenum">
              <a:rPr lang="en-US" smtClean="0"/>
              <a:t>‹#›</a:t>
            </a:fld>
            <a:endParaRPr lang="en-US"/>
          </a:p>
        </p:txBody>
      </p:sp>
    </p:spTree>
    <p:extLst>
      <p:ext uri="{BB962C8B-B14F-4D97-AF65-F5344CB8AC3E}">
        <p14:creationId xmlns:p14="http://schemas.microsoft.com/office/powerpoint/2010/main" val="3564589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1AEFEA-BAB7-704F-9805-739D7747D87B}" type="datetimeFigureOut">
              <a:rPr lang="en-US" smtClean="0"/>
              <a:t>9/23/26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907A40E-3D9D-F847-8D7C-7210A9C3C436}" type="slidenum">
              <a:rPr lang="en-US" smtClean="0"/>
              <a:t>‹#›</a:t>
            </a:fld>
            <a:endParaRPr lang="en-US"/>
          </a:p>
        </p:txBody>
      </p:sp>
    </p:spTree>
    <p:extLst>
      <p:ext uri="{BB962C8B-B14F-4D97-AF65-F5344CB8AC3E}">
        <p14:creationId xmlns:p14="http://schemas.microsoft.com/office/powerpoint/2010/main" val="3268993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1AEFEA-BAB7-704F-9805-739D7747D87B}" type="datetimeFigureOut">
              <a:rPr lang="en-US" smtClean="0"/>
              <a:t>9/23/26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07A40E-3D9D-F847-8D7C-7210A9C3C436}" type="slidenum">
              <a:rPr lang="en-US" smtClean="0"/>
              <a:t>‹#›</a:t>
            </a:fld>
            <a:endParaRPr lang="en-US"/>
          </a:p>
        </p:txBody>
      </p:sp>
    </p:spTree>
    <p:extLst>
      <p:ext uri="{BB962C8B-B14F-4D97-AF65-F5344CB8AC3E}">
        <p14:creationId xmlns:p14="http://schemas.microsoft.com/office/powerpoint/2010/main" val="1160377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1AEFEA-BAB7-704F-9805-739D7747D87B}" type="datetimeFigureOut">
              <a:rPr lang="en-US" smtClean="0"/>
              <a:t>9/23/26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907A40E-3D9D-F847-8D7C-7210A9C3C436}" type="slidenum">
              <a:rPr lang="en-US" smtClean="0"/>
              <a:t>‹#›</a:t>
            </a:fld>
            <a:endParaRPr lang="en-US"/>
          </a:p>
        </p:txBody>
      </p:sp>
    </p:spTree>
    <p:extLst>
      <p:ext uri="{BB962C8B-B14F-4D97-AF65-F5344CB8AC3E}">
        <p14:creationId xmlns:p14="http://schemas.microsoft.com/office/powerpoint/2010/main" val="1763945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1AEFEA-BAB7-704F-9805-739D7747D87B}" type="datetimeFigureOut">
              <a:rPr lang="en-US" smtClean="0"/>
              <a:t>9/23/26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07A40E-3D9D-F847-8D7C-7210A9C3C436}" type="slidenum">
              <a:rPr lang="en-US" smtClean="0"/>
              <a:t>‹#›</a:t>
            </a:fld>
            <a:endParaRPr lang="en-US"/>
          </a:p>
        </p:txBody>
      </p:sp>
    </p:spTree>
    <p:extLst>
      <p:ext uri="{BB962C8B-B14F-4D97-AF65-F5344CB8AC3E}">
        <p14:creationId xmlns:p14="http://schemas.microsoft.com/office/powerpoint/2010/main" val="10862081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2A598-8BF2-ACFC-0475-06B6E5BE406B}"/>
              </a:ext>
            </a:extLst>
          </p:cNvPr>
          <p:cNvSpPr>
            <a:spLocks noGrp="1"/>
          </p:cNvSpPr>
          <p:nvPr>
            <p:ph type="ctrTitle"/>
          </p:nvPr>
        </p:nvSpPr>
        <p:spPr/>
        <p:txBody>
          <a:bodyPr/>
          <a:lstStyle/>
          <a:p>
            <a:r>
              <a:rPr lang="en-US"/>
              <a:t>Global Policy</a:t>
            </a:r>
          </a:p>
        </p:txBody>
      </p:sp>
      <p:sp>
        <p:nvSpPr>
          <p:cNvPr id="3" name="Subtitle 2">
            <a:extLst>
              <a:ext uri="{FF2B5EF4-FFF2-40B4-BE49-F238E27FC236}">
                <a16:creationId xmlns:a16="http://schemas.microsoft.com/office/drawing/2014/main" id="{07B6498C-C5FD-24EB-AD22-320C479AC6C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801555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06359-CE42-6427-022C-3B7FF5DE7374}"/>
              </a:ext>
            </a:extLst>
          </p:cNvPr>
          <p:cNvSpPr>
            <a:spLocks noGrp="1"/>
          </p:cNvSpPr>
          <p:nvPr>
            <p:ph type="title"/>
          </p:nvPr>
        </p:nvSpPr>
        <p:spPr/>
        <p:txBody>
          <a:bodyPr/>
          <a:lstStyle/>
          <a:p>
            <a:r>
              <a:rPr lang="en-US" dirty="0"/>
              <a:t>Convention On Biodiversity</a:t>
            </a:r>
          </a:p>
        </p:txBody>
      </p:sp>
      <p:sp>
        <p:nvSpPr>
          <p:cNvPr id="3" name="Content Placeholder 2">
            <a:extLst>
              <a:ext uri="{FF2B5EF4-FFF2-40B4-BE49-F238E27FC236}">
                <a16:creationId xmlns:a16="http://schemas.microsoft.com/office/drawing/2014/main" id="{2A6B707E-E650-69BF-94A9-42205E31ECC8}"/>
              </a:ext>
            </a:extLst>
          </p:cNvPr>
          <p:cNvSpPr>
            <a:spLocks noGrp="1"/>
          </p:cNvSpPr>
          <p:nvPr>
            <p:ph idx="1"/>
          </p:nvPr>
        </p:nvSpPr>
        <p:spPr/>
        <p:txBody>
          <a:bodyPr/>
          <a:lstStyle/>
          <a:p>
            <a:r>
              <a:rPr lang="en-US" dirty="0"/>
              <a:t>international legal treaty from the United Nations created to protect Earth's plant, animal, and microbial life and promote sustainable development</a:t>
            </a:r>
          </a:p>
          <a:p>
            <a:r>
              <a:rPr lang="en-US" dirty="0"/>
              <a:t>three main goals:</a:t>
            </a:r>
          </a:p>
          <a:p>
            <a:pPr lvl="1"/>
            <a:r>
              <a:rPr lang="en-US" dirty="0"/>
              <a:t>the conservation of biological diversity;</a:t>
            </a:r>
          </a:p>
          <a:p>
            <a:pPr lvl="1"/>
            <a:r>
              <a:rPr lang="en-US" dirty="0"/>
              <a:t>the sustainable use of its components;</a:t>
            </a:r>
          </a:p>
          <a:p>
            <a:pPr lvl="1"/>
            <a:r>
              <a:rPr lang="en-US" dirty="0"/>
              <a:t>the fair and equitable sharing of the benefits arising from the use of genetic resources.</a:t>
            </a:r>
          </a:p>
          <a:p>
            <a:endParaRPr lang="en-US" dirty="0"/>
          </a:p>
        </p:txBody>
      </p:sp>
      <p:pic>
        <p:nvPicPr>
          <p:cNvPr id="1026" name="Picture 2" descr="Kunming-Montreal Global Biodiversity Framework">
            <a:extLst>
              <a:ext uri="{FF2B5EF4-FFF2-40B4-BE49-F238E27FC236}">
                <a16:creationId xmlns:a16="http://schemas.microsoft.com/office/drawing/2014/main" id="{33628141-8088-1E36-936B-59F5A2CDA1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 y="3037141"/>
            <a:ext cx="11353800" cy="2463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109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6D5E1-1388-D964-7350-20AC58B4E97B}"/>
              </a:ext>
            </a:extLst>
          </p:cNvPr>
          <p:cNvSpPr>
            <a:spLocks noGrp="1"/>
          </p:cNvSpPr>
          <p:nvPr>
            <p:ph type="title"/>
          </p:nvPr>
        </p:nvSpPr>
        <p:spPr/>
        <p:txBody>
          <a:bodyPr/>
          <a:lstStyle/>
          <a:p>
            <a:r>
              <a:rPr lang="en-US" dirty="0"/>
              <a:t>Global Biodiversity Framework</a:t>
            </a:r>
          </a:p>
        </p:txBody>
      </p:sp>
      <p:pic>
        <p:nvPicPr>
          <p:cNvPr id="5122" name="Picture 2" descr="Cheat sheet to the Kunming-Montréal Global Biodiversity Framework | Centre  for Sustainable Area Management (CeSAM) | UiB">
            <a:extLst>
              <a:ext uri="{FF2B5EF4-FFF2-40B4-BE49-F238E27FC236}">
                <a16:creationId xmlns:a16="http://schemas.microsoft.com/office/drawing/2014/main" id="{EFC6FBDC-C025-0197-1688-BA6A1C655C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016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96119-A7C4-99A7-A152-8D6A852E5A23}"/>
              </a:ext>
            </a:extLst>
          </p:cNvPr>
          <p:cNvSpPr>
            <a:spLocks noGrp="1"/>
          </p:cNvSpPr>
          <p:nvPr>
            <p:ph type="title"/>
          </p:nvPr>
        </p:nvSpPr>
        <p:spPr/>
        <p:txBody>
          <a:bodyPr/>
          <a:lstStyle/>
          <a:p>
            <a:r>
              <a:rPr lang="en-US" dirty="0"/>
              <a:t>Global Biodiversity Framework</a:t>
            </a:r>
          </a:p>
        </p:txBody>
      </p:sp>
      <p:sp>
        <p:nvSpPr>
          <p:cNvPr id="3" name="Content Placeholder 2">
            <a:extLst>
              <a:ext uri="{FF2B5EF4-FFF2-40B4-BE49-F238E27FC236}">
                <a16:creationId xmlns:a16="http://schemas.microsoft.com/office/drawing/2014/main" id="{19ECED6E-AD0F-183C-8713-5228DA99E921}"/>
              </a:ext>
            </a:extLst>
          </p:cNvPr>
          <p:cNvSpPr>
            <a:spLocks noGrp="1"/>
          </p:cNvSpPr>
          <p:nvPr>
            <p:ph idx="1"/>
          </p:nvPr>
        </p:nvSpPr>
        <p:spPr>
          <a:xfrm>
            <a:off x="5817704" y="2675544"/>
            <a:ext cx="5536096" cy="2259605"/>
          </a:xfrm>
        </p:spPr>
        <p:txBody>
          <a:bodyPr/>
          <a:lstStyle/>
          <a:p>
            <a:pPr marL="0" indent="0">
              <a:buNone/>
            </a:pPr>
            <a:r>
              <a:rPr lang="en-US" dirty="0"/>
              <a:t>The GBF needs measurable indicators to determine whether countries and the international community are actually making progress toward these goals.</a:t>
            </a:r>
          </a:p>
        </p:txBody>
      </p:sp>
      <p:sp>
        <p:nvSpPr>
          <p:cNvPr id="4" name="Rectangle 3">
            <a:extLst>
              <a:ext uri="{FF2B5EF4-FFF2-40B4-BE49-F238E27FC236}">
                <a16:creationId xmlns:a16="http://schemas.microsoft.com/office/drawing/2014/main" id="{C4D5E6A6-E12B-4AAB-68AD-507B05FA6AC0}"/>
              </a:ext>
            </a:extLst>
          </p:cNvPr>
          <p:cNvSpPr/>
          <p:nvPr/>
        </p:nvSpPr>
        <p:spPr>
          <a:xfrm>
            <a:off x="1262273" y="2655196"/>
            <a:ext cx="3482009" cy="5597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4 Goals for 2050</a:t>
            </a:r>
          </a:p>
        </p:txBody>
      </p:sp>
      <p:sp>
        <p:nvSpPr>
          <p:cNvPr id="5" name="Rectangle 4">
            <a:extLst>
              <a:ext uri="{FF2B5EF4-FFF2-40B4-BE49-F238E27FC236}">
                <a16:creationId xmlns:a16="http://schemas.microsoft.com/office/drawing/2014/main" id="{DBF6A0F0-5481-336C-E849-0345305FC5CA}"/>
              </a:ext>
            </a:extLst>
          </p:cNvPr>
          <p:cNvSpPr/>
          <p:nvPr/>
        </p:nvSpPr>
        <p:spPr>
          <a:xfrm>
            <a:off x="1262273" y="3525464"/>
            <a:ext cx="3482009" cy="5597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23 Targets for 2030</a:t>
            </a:r>
          </a:p>
        </p:txBody>
      </p:sp>
      <p:sp>
        <p:nvSpPr>
          <p:cNvPr id="6" name="Rectangle 5">
            <a:extLst>
              <a:ext uri="{FF2B5EF4-FFF2-40B4-BE49-F238E27FC236}">
                <a16:creationId xmlns:a16="http://schemas.microsoft.com/office/drawing/2014/main" id="{5EDA11CE-0E44-F912-F486-FC90FF195966}"/>
              </a:ext>
            </a:extLst>
          </p:cNvPr>
          <p:cNvSpPr/>
          <p:nvPr/>
        </p:nvSpPr>
        <p:spPr>
          <a:xfrm>
            <a:off x="1262272" y="4395732"/>
            <a:ext cx="3482009" cy="5597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Headline + component + complementary indicators</a:t>
            </a:r>
          </a:p>
        </p:txBody>
      </p:sp>
      <p:cxnSp>
        <p:nvCxnSpPr>
          <p:cNvPr id="8" name="Straight Arrow Connector 7">
            <a:extLst>
              <a:ext uri="{FF2B5EF4-FFF2-40B4-BE49-F238E27FC236}">
                <a16:creationId xmlns:a16="http://schemas.microsoft.com/office/drawing/2014/main" id="{7CDAC8E0-3D1B-4915-26A8-7501566BB8D3}"/>
              </a:ext>
            </a:extLst>
          </p:cNvPr>
          <p:cNvCxnSpPr>
            <a:stCxn id="4" idx="2"/>
            <a:endCxn id="5" idx="0"/>
          </p:cNvCxnSpPr>
          <p:nvPr/>
        </p:nvCxnSpPr>
        <p:spPr>
          <a:xfrm>
            <a:off x="3003278" y="3214962"/>
            <a:ext cx="0" cy="31050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4CDEBC1-6BC4-885B-E60F-C3C0300EB7EF}"/>
              </a:ext>
            </a:extLst>
          </p:cNvPr>
          <p:cNvCxnSpPr>
            <a:cxnSpLocks/>
          </p:cNvCxnSpPr>
          <p:nvPr/>
        </p:nvCxnSpPr>
        <p:spPr>
          <a:xfrm>
            <a:off x="3003275" y="4085230"/>
            <a:ext cx="0" cy="31050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6595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5D331-29FE-0DA2-B647-4F725B2C23DC}"/>
              </a:ext>
            </a:extLst>
          </p:cNvPr>
          <p:cNvSpPr>
            <a:spLocks noGrp="1"/>
          </p:cNvSpPr>
          <p:nvPr>
            <p:ph type="title"/>
          </p:nvPr>
        </p:nvSpPr>
        <p:spPr/>
        <p:txBody>
          <a:bodyPr/>
          <a:lstStyle/>
          <a:p>
            <a:r>
              <a:rPr lang="en-US" dirty="0"/>
              <a:t>How does the IUCN Red List fit into the GBF?</a:t>
            </a:r>
          </a:p>
        </p:txBody>
      </p:sp>
      <p:sp>
        <p:nvSpPr>
          <p:cNvPr id="3" name="Text Placeholder 2">
            <a:extLst>
              <a:ext uri="{FF2B5EF4-FFF2-40B4-BE49-F238E27FC236}">
                <a16:creationId xmlns:a16="http://schemas.microsoft.com/office/drawing/2014/main" id="{799DB10D-941E-B604-3E71-D1B302FC6FB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45039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9DED2-2A9D-5D00-1C7B-27CD1D5EF0BD}"/>
              </a:ext>
            </a:extLst>
          </p:cNvPr>
          <p:cNvSpPr>
            <a:spLocks noGrp="1"/>
          </p:cNvSpPr>
          <p:nvPr>
            <p:ph type="title"/>
          </p:nvPr>
        </p:nvSpPr>
        <p:spPr/>
        <p:txBody>
          <a:bodyPr/>
          <a:lstStyle/>
          <a:p>
            <a:r>
              <a:rPr lang="en-US" dirty="0"/>
              <a:t>Where the Red List fits</a:t>
            </a:r>
          </a:p>
        </p:txBody>
      </p:sp>
      <p:sp>
        <p:nvSpPr>
          <p:cNvPr id="3" name="Content Placeholder 2">
            <a:extLst>
              <a:ext uri="{FF2B5EF4-FFF2-40B4-BE49-F238E27FC236}">
                <a16:creationId xmlns:a16="http://schemas.microsoft.com/office/drawing/2014/main" id="{2D682009-65F0-E849-0BC8-CD0C12929B44}"/>
              </a:ext>
            </a:extLst>
          </p:cNvPr>
          <p:cNvSpPr>
            <a:spLocks noGrp="1"/>
          </p:cNvSpPr>
          <p:nvPr>
            <p:ph idx="1"/>
          </p:nvPr>
        </p:nvSpPr>
        <p:spPr>
          <a:xfrm>
            <a:off x="838200" y="1573833"/>
            <a:ext cx="10515600" cy="1421158"/>
          </a:xfrm>
        </p:spPr>
        <p:style>
          <a:lnRef idx="3">
            <a:schemeClr val="lt1"/>
          </a:lnRef>
          <a:fillRef idx="1">
            <a:schemeClr val="accent4"/>
          </a:fillRef>
          <a:effectRef idx="1">
            <a:schemeClr val="accent4"/>
          </a:effectRef>
          <a:fontRef idx="minor">
            <a:schemeClr val="lt1"/>
          </a:fontRef>
        </p:style>
        <p:txBody>
          <a:bodyPr/>
          <a:lstStyle/>
          <a:p>
            <a:pPr marL="0" indent="0">
              <a:buNone/>
            </a:pPr>
            <a:r>
              <a:rPr lang="en-US" b="1" dirty="0">
                <a:solidFill>
                  <a:sysClr val="windowText" lastClr="000000"/>
                </a:solidFill>
              </a:rPr>
              <a:t>Goal A</a:t>
            </a:r>
          </a:p>
          <a:p>
            <a:pPr marL="0" indent="0">
              <a:buNone/>
            </a:pPr>
            <a:r>
              <a:rPr lang="en-US" dirty="0">
                <a:solidFill>
                  <a:sysClr val="windowText" lastClr="000000"/>
                </a:solidFill>
              </a:rPr>
              <a:t>Maintain ecosystem integrity, reduce extinction risk, increase abundance of native species, and maintain genetic diversity.</a:t>
            </a:r>
          </a:p>
          <a:p>
            <a:pPr marL="0" indent="0">
              <a:buNone/>
            </a:pPr>
            <a:endParaRPr lang="en-US" dirty="0">
              <a:solidFill>
                <a:sysClr val="windowText" lastClr="000000"/>
              </a:solidFill>
            </a:endParaRPr>
          </a:p>
        </p:txBody>
      </p:sp>
      <p:sp>
        <p:nvSpPr>
          <p:cNvPr id="4" name="Content Placeholder 2">
            <a:extLst>
              <a:ext uri="{FF2B5EF4-FFF2-40B4-BE49-F238E27FC236}">
                <a16:creationId xmlns:a16="http://schemas.microsoft.com/office/drawing/2014/main" id="{17DF8EEC-22E8-91C4-B909-A72B95C6EBDA}"/>
              </a:ext>
            </a:extLst>
          </p:cNvPr>
          <p:cNvSpPr txBox="1">
            <a:spLocks/>
          </p:cNvSpPr>
          <p:nvPr/>
        </p:nvSpPr>
        <p:spPr>
          <a:xfrm>
            <a:off x="838200" y="3152431"/>
            <a:ext cx="10515600" cy="1421158"/>
          </a:xfrm>
          <a:prstGeom prst="rect">
            <a:avLst/>
          </a:prstGeom>
        </p:spPr>
        <p:style>
          <a:lnRef idx="3">
            <a:schemeClr val="lt1"/>
          </a:lnRef>
          <a:fillRef idx="1">
            <a:schemeClr val="accent5"/>
          </a:fillRef>
          <a:effectRef idx="1">
            <a:schemeClr val="accent5"/>
          </a:effectRef>
          <a:fontRef idx="minor">
            <a:schemeClr val="lt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Target 4</a:t>
            </a:r>
          </a:p>
          <a:p>
            <a:pPr marL="0" indent="0">
              <a:buNone/>
            </a:pPr>
            <a:r>
              <a:rPr lang="en-US" dirty="0"/>
              <a:t>Halt species extinction, protect genetic diversity, and manage human–wildlife conflicts.</a:t>
            </a:r>
          </a:p>
        </p:txBody>
      </p:sp>
      <p:sp>
        <p:nvSpPr>
          <p:cNvPr id="5" name="Content Placeholder 2">
            <a:extLst>
              <a:ext uri="{FF2B5EF4-FFF2-40B4-BE49-F238E27FC236}">
                <a16:creationId xmlns:a16="http://schemas.microsoft.com/office/drawing/2014/main" id="{99DAEE22-2DAD-0D8E-26D5-BFCED38678FF}"/>
              </a:ext>
            </a:extLst>
          </p:cNvPr>
          <p:cNvSpPr txBox="1">
            <a:spLocks/>
          </p:cNvSpPr>
          <p:nvPr/>
        </p:nvSpPr>
        <p:spPr>
          <a:xfrm>
            <a:off x="838200" y="4768644"/>
            <a:ext cx="5257800" cy="1421158"/>
          </a:xfrm>
          <a:prstGeom prst="rect">
            <a:avLst/>
          </a:prstGeom>
        </p:spPr>
        <p:style>
          <a:lnRef idx="3">
            <a:schemeClr val="lt1"/>
          </a:lnRef>
          <a:fillRef idx="1">
            <a:schemeClr val="accent6"/>
          </a:fillRef>
          <a:effectRef idx="1">
            <a:schemeClr val="accent6"/>
          </a:effectRef>
          <a:fontRef idx="minor">
            <a:schemeClr val="lt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A.3 — Red List Index</a:t>
            </a:r>
            <a:br>
              <a:rPr lang="en-US" dirty="0"/>
            </a:br>
            <a:r>
              <a:rPr lang="en-US" i="1" dirty="0"/>
              <a:t>Are extinction risks across species improving or worsening?</a:t>
            </a:r>
            <a:endParaRPr lang="en-US" dirty="0"/>
          </a:p>
        </p:txBody>
      </p:sp>
    </p:spTree>
    <p:extLst>
      <p:ext uri="{BB962C8B-B14F-4D97-AF65-F5344CB8AC3E}">
        <p14:creationId xmlns:p14="http://schemas.microsoft.com/office/powerpoint/2010/main" val="4262027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ED48-197A-8F1A-E3EE-F7AB441C26BF}"/>
              </a:ext>
            </a:extLst>
          </p:cNvPr>
          <p:cNvSpPr>
            <a:spLocks noGrp="1"/>
          </p:cNvSpPr>
          <p:nvPr>
            <p:ph type="title"/>
          </p:nvPr>
        </p:nvSpPr>
        <p:spPr/>
        <p:txBody>
          <a:bodyPr/>
          <a:lstStyle/>
          <a:p>
            <a:r>
              <a:rPr lang="en-US" dirty="0"/>
              <a:t>What is the IUCN Red List</a:t>
            </a:r>
          </a:p>
        </p:txBody>
      </p:sp>
      <p:sp>
        <p:nvSpPr>
          <p:cNvPr id="3" name="Content Placeholder 2">
            <a:extLst>
              <a:ext uri="{FF2B5EF4-FFF2-40B4-BE49-F238E27FC236}">
                <a16:creationId xmlns:a16="http://schemas.microsoft.com/office/drawing/2014/main" id="{1C9DEF9D-80C0-0665-1F9C-FAA510E585FC}"/>
              </a:ext>
            </a:extLst>
          </p:cNvPr>
          <p:cNvSpPr>
            <a:spLocks noGrp="1"/>
          </p:cNvSpPr>
          <p:nvPr>
            <p:ph idx="1"/>
          </p:nvPr>
        </p:nvSpPr>
        <p:spPr>
          <a:xfrm>
            <a:off x="838200" y="1825625"/>
            <a:ext cx="5638800" cy="4351338"/>
          </a:xfrm>
        </p:spPr>
        <p:txBody>
          <a:bodyPr>
            <a:normAutofit fontScale="92500" lnSpcReduction="10000"/>
          </a:bodyPr>
          <a:lstStyle/>
          <a:p>
            <a:r>
              <a:rPr lang="en-US" dirty="0"/>
              <a:t>Global system for assessing the extinction risk of species</a:t>
            </a:r>
          </a:p>
          <a:p>
            <a:r>
              <a:rPr lang="en-US" dirty="0"/>
              <a:t>Uses standardized, quantitative criteria</a:t>
            </a:r>
          </a:p>
          <a:p>
            <a:r>
              <a:rPr lang="en-US" dirty="0"/>
              <a:t>Assessments also compile information on distribution, population, ecology, threats, use/trade, and conservation actions</a:t>
            </a:r>
          </a:p>
          <a:p>
            <a:r>
              <a:rPr lang="en-US" dirty="0"/>
              <a:t>Important distinction: </a:t>
            </a:r>
            <a:r>
              <a:rPr lang="en-US" b="1" dirty="0"/>
              <a:t>Red List status is an assessment of extinction risk, not itself a legal protection</a:t>
            </a:r>
          </a:p>
          <a:p>
            <a:endParaRPr lang="en-US" dirty="0"/>
          </a:p>
        </p:txBody>
      </p:sp>
      <p:pic>
        <p:nvPicPr>
          <p:cNvPr id="1033" name="Picture 9" descr="All About IUCN International Union for Conservation of Nature">
            <a:extLst>
              <a:ext uri="{FF2B5EF4-FFF2-40B4-BE49-F238E27FC236}">
                <a16:creationId xmlns:a16="http://schemas.microsoft.com/office/drawing/2014/main" id="{48A2F851-3D3B-CCEF-7F70-903E5B55F9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7206" y="1460501"/>
            <a:ext cx="5854794" cy="50323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1990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6A550-D6D7-779C-7F95-3B72252AD227}"/>
              </a:ext>
            </a:extLst>
          </p:cNvPr>
          <p:cNvSpPr>
            <a:spLocks noGrp="1"/>
          </p:cNvSpPr>
          <p:nvPr>
            <p:ph type="title"/>
          </p:nvPr>
        </p:nvSpPr>
        <p:spPr/>
        <p:txBody>
          <a:bodyPr/>
          <a:lstStyle/>
          <a:p>
            <a:r>
              <a:rPr lang="en-US" dirty="0"/>
              <a:t>IUCN Categorization</a:t>
            </a:r>
          </a:p>
        </p:txBody>
      </p:sp>
      <p:sp>
        <p:nvSpPr>
          <p:cNvPr id="3" name="Content Placeholder 2">
            <a:extLst>
              <a:ext uri="{FF2B5EF4-FFF2-40B4-BE49-F238E27FC236}">
                <a16:creationId xmlns:a16="http://schemas.microsoft.com/office/drawing/2014/main" id="{09EB8D5A-D64E-343E-F140-4985CDD52529}"/>
              </a:ext>
            </a:extLst>
          </p:cNvPr>
          <p:cNvSpPr>
            <a:spLocks noGrp="1"/>
          </p:cNvSpPr>
          <p:nvPr>
            <p:ph idx="1"/>
          </p:nvPr>
        </p:nvSpPr>
        <p:spPr>
          <a:xfrm>
            <a:off x="838200" y="1825625"/>
            <a:ext cx="5041605" cy="4351338"/>
          </a:xfrm>
        </p:spPr>
        <p:txBody>
          <a:bodyPr>
            <a:normAutofit lnSpcReduction="10000"/>
          </a:bodyPr>
          <a:lstStyle/>
          <a:p>
            <a:r>
              <a:rPr lang="en-US" dirty="0"/>
              <a:t>Taxa Assessed:</a:t>
            </a:r>
          </a:p>
          <a:p>
            <a:pPr lvl="1"/>
            <a:r>
              <a:rPr lang="en-US" dirty="0"/>
              <a:t>Species</a:t>
            </a:r>
          </a:p>
          <a:p>
            <a:pPr lvl="1"/>
            <a:r>
              <a:rPr lang="en-US" dirty="0"/>
              <a:t>Subspecies</a:t>
            </a:r>
          </a:p>
          <a:p>
            <a:pPr lvl="1"/>
            <a:r>
              <a:rPr lang="en-US" dirty="0"/>
              <a:t>Varieties (only for plants)</a:t>
            </a:r>
          </a:p>
          <a:p>
            <a:pPr lvl="1"/>
            <a:r>
              <a:rPr lang="en-US" dirty="0"/>
              <a:t>Subpopulations (provided certain conditions are met)</a:t>
            </a:r>
          </a:p>
          <a:p>
            <a:r>
              <a:rPr lang="en-US" dirty="0"/>
              <a:t>The IUCN criteria are designed for global taxa assessments</a:t>
            </a:r>
          </a:p>
          <a:p>
            <a:r>
              <a:rPr lang="en-US" dirty="0"/>
              <a:t>A species only needs to meet one criterion to qualify for a threatened category</a:t>
            </a:r>
          </a:p>
        </p:txBody>
      </p:sp>
      <p:graphicFrame>
        <p:nvGraphicFramePr>
          <p:cNvPr id="4" name="Table 3">
            <a:extLst>
              <a:ext uri="{FF2B5EF4-FFF2-40B4-BE49-F238E27FC236}">
                <a16:creationId xmlns:a16="http://schemas.microsoft.com/office/drawing/2014/main" id="{697AAB64-3B5F-012A-2947-B98427FDCDEF}"/>
              </a:ext>
            </a:extLst>
          </p:cNvPr>
          <p:cNvGraphicFramePr>
            <a:graphicFrameLocks noGrp="1"/>
          </p:cNvGraphicFramePr>
          <p:nvPr>
            <p:extLst>
              <p:ext uri="{D42A27DB-BD31-4B8C-83A1-F6EECF244321}">
                <p14:modId xmlns:p14="http://schemas.microsoft.com/office/powerpoint/2010/main" val="684638341"/>
              </p:ext>
            </p:extLst>
          </p:nvPr>
        </p:nvGraphicFramePr>
        <p:xfrm>
          <a:off x="5902996" y="2355374"/>
          <a:ext cx="5896107" cy="3017520"/>
        </p:xfrm>
        <a:graphic>
          <a:graphicData uri="http://schemas.openxmlformats.org/drawingml/2006/table">
            <a:tbl>
              <a:tblPr>
                <a:tableStyleId>{2D5ABB26-0587-4C30-8999-92F81FD0307C}</a:tableStyleId>
              </a:tblPr>
              <a:tblGrid>
                <a:gridCol w="1153287">
                  <a:extLst>
                    <a:ext uri="{9D8B030D-6E8A-4147-A177-3AD203B41FA5}">
                      <a16:colId xmlns:a16="http://schemas.microsoft.com/office/drawing/2014/main" val="2436565690"/>
                    </a:ext>
                  </a:extLst>
                </a:gridCol>
                <a:gridCol w="4742820">
                  <a:extLst>
                    <a:ext uri="{9D8B030D-6E8A-4147-A177-3AD203B41FA5}">
                      <a16:colId xmlns:a16="http://schemas.microsoft.com/office/drawing/2014/main" val="1257500824"/>
                    </a:ext>
                  </a:extLst>
                </a:gridCol>
              </a:tblGrid>
              <a:tr h="0">
                <a:tc>
                  <a:txBody>
                    <a:bodyPr/>
                    <a:lstStyle/>
                    <a:p>
                      <a:pPr>
                        <a:buNone/>
                      </a:pPr>
                      <a:r>
                        <a:rPr lang="en-US" b="1"/>
                        <a:t>Criterion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b="1" dirty="0"/>
                        <a:t>Broadly 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3322356"/>
                  </a:ext>
                </a:extLst>
              </a:tr>
              <a:tr h="0">
                <a:tc>
                  <a:txBody>
                    <a:bodyPr/>
                    <a:lstStyle/>
                    <a:p>
                      <a:pPr>
                        <a:buNone/>
                      </a:pPr>
                      <a:r>
                        <a:rPr lang="en-US" b="1"/>
                        <a:t>A</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Is the population declining substantially?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6053255"/>
                  </a:ext>
                </a:extLst>
              </a:tr>
              <a:tr h="0">
                <a:tc>
                  <a:txBody>
                    <a:bodyPr/>
                    <a:lstStyle/>
                    <a:p>
                      <a:pPr>
                        <a:buNone/>
                      </a:pPr>
                      <a:r>
                        <a:rPr lang="en-US" b="1"/>
                        <a:t>B</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Is its geographic range small/restricted and declining or fragmented?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2757008"/>
                  </a:ext>
                </a:extLst>
              </a:tr>
              <a:tr h="0">
                <a:tc>
                  <a:txBody>
                    <a:bodyPr/>
                    <a:lstStyle/>
                    <a:p>
                      <a:pPr>
                        <a:buNone/>
                      </a:pPr>
                      <a:r>
                        <a:rPr lang="en-US" b="1"/>
                        <a:t>C</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Is the population small </a:t>
                      </a:r>
                      <a:r>
                        <a:rPr lang="en-US" b="1"/>
                        <a:t>and</a:t>
                      </a:r>
                      <a:r>
                        <a:rPr lang="en-US"/>
                        <a:t> declining?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0826949"/>
                  </a:ext>
                </a:extLst>
              </a:tr>
              <a:tr h="0">
                <a:tc>
                  <a:txBody>
                    <a:bodyPr/>
                    <a:lstStyle/>
                    <a:p>
                      <a:pPr>
                        <a:buNone/>
                      </a:pPr>
                      <a:r>
                        <a:rPr lang="en-US" b="1"/>
                        <a:t>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t>Is the population or distribution extremely small?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699877"/>
                  </a:ext>
                </a:extLst>
              </a:tr>
              <a:tr h="0">
                <a:tc>
                  <a:txBody>
                    <a:bodyPr/>
                    <a:lstStyle/>
                    <a:p>
                      <a:pPr>
                        <a:buNone/>
                      </a:pPr>
                      <a:r>
                        <a:rPr lang="en-US" b="1"/>
                        <a:t>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dirty="0"/>
                        <a:t>What does a quantitative extinction-risk analysis predict?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9926197"/>
                  </a:ext>
                </a:extLst>
              </a:tr>
            </a:tbl>
          </a:graphicData>
        </a:graphic>
      </p:graphicFrame>
    </p:spTree>
    <p:extLst>
      <p:ext uri="{BB962C8B-B14F-4D97-AF65-F5344CB8AC3E}">
        <p14:creationId xmlns:p14="http://schemas.microsoft.com/office/powerpoint/2010/main" val="3955019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0A416-A2CC-81B3-ACA0-60BD95460E37}"/>
              </a:ext>
            </a:extLst>
          </p:cNvPr>
          <p:cNvSpPr>
            <a:spLocks noGrp="1"/>
          </p:cNvSpPr>
          <p:nvPr>
            <p:ph type="title"/>
          </p:nvPr>
        </p:nvSpPr>
        <p:spPr/>
        <p:txBody>
          <a:bodyPr/>
          <a:lstStyle/>
          <a:p>
            <a:r>
              <a:rPr lang="en-US" dirty="0"/>
              <a:t>Flow of Information</a:t>
            </a:r>
          </a:p>
        </p:txBody>
      </p:sp>
      <p:sp>
        <p:nvSpPr>
          <p:cNvPr id="3" name="Content Placeholder 2">
            <a:extLst>
              <a:ext uri="{FF2B5EF4-FFF2-40B4-BE49-F238E27FC236}">
                <a16:creationId xmlns:a16="http://schemas.microsoft.com/office/drawing/2014/main" id="{C72F7FD1-A763-2A8B-7229-96EB2B8EB940}"/>
              </a:ext>
            </a:extLst>
          </p:cNvPr>
          <p:cNvSpPr>
            <a:spLocks noGrp="1"/>
          </p:cNvSpPr>
          <p:nvPr>
            <p:ph idx="1"/>
          </p:nvPr>
        </p:nvSpPr>
        <p:spPr>
          <a:xfrm>
            <a:off x="6096000" y="2296788"/>
            <a:ext cx="5138530" cy="2799384"/>
          </a:xfrm>
        </p:spPr>
        <p:txBody>
          <a:bodyPr/>
          <a:lstStyle/>
          <a:p>
            <a:pPr marL="0" indent="0">
              <a:buNone/>
            </a:pPr>
            <a:r>
              <a:rPr lang="en-US" dirty="0"/>
              <a:t>Assessments are generally prepared by specialists, Species Survival Commission groups, Red List Authorities, partners, or other qualified assessors; they are reviewed and checked before publication.</a:t>
            </a:r>
          </a:p>
        </p:txBody>
      </p:sp>
      <p:sp>
        <p:nvSpPr>
          <p:cNvPr id="5" name="Rectangle 4">
            <a:extLst>
              <a:ext uri="{FF2B5EF4-FFF2-40B4-BE49-F238E27FC236}">
                <a16:creationId xmlns:a16="http://schemas.microsoft.com/office/drawing/2014/main" id="{08612D66-9C95-D5AC-6D50-BE2B1F880B83}"/>
              </a:ext>
            </a:extLst>
          </p:cNvPr>
          <p:cNvSpPr/>
          <p:nvPr/>
        </p:nvSpPr>
        <p:spPr>
          <a:xfrm>
            <a:off x="1461054" y="1515510"/>
            <a:ext cx="3482009" cy="5597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Available Evidence</a:t>
            </a:r>
          </a:p>
        </p:txBody>
      </p:sp>
      <p:sp>
        <p:nvSpPr>
          <p:cNvPr id="6" name="Rectangle 5">
            <a:extLst>
              <a:ext uri="{FF2B5EF4-FFF2-40B4-BE49-F238E27FC236}">
                <a16:creationId xmlns:a16="http://schemas.microsoft.com/office/drawing/2014/main" id="{D779A1D0-5ABD-5C7F-AF5E-CE95A58C0C33}"/>
              </a:ext>
            </a:extLst>
          </p:cNvPr>
          <p:cNvSpPr/>
          <p:nvPr/>
        </p:nvSpPr>
        <p:spPr>
          <a:xfrm>
            <a:off x="1461054" y="2385778"/>
            <a:ext cx="3482009" cy="5597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Species Assessment Against Criteria A-E</a:t>
            </a:r>
          </a:p>
        </p:txBody>
      </p:sp>
      <p:sp>
        <p:nvSpPr>
          <p:cNvPr id="7" name="Rectangle 6">
            <a:extLst>
              <a:ext uri="{FF2B5EF4-FFF2-40B4-BE49-F238E27FC236}">
                <a16:creationId xmlns:a16="http://schemas.microsoft.com/office/drawing/2014/main" id="{41C77F55-1533-6036-0D96-9C22DA17B0A3}"/>
              </a:ext>
            </a:extLst>
          </p:cNvPr>
          <p:cNvSpPr/>
          <p:nvPr/>
        </p:nvSpPr>
        <p:spPr>
          <a:xfrm>
            <a:off x="1461053" y="3256046"/>
            <a:ext cx="3482009" cy="5597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Proposed Red List Category</a:t>
            </a:r>
          </a:p>
        </p:txBody>
      </p:sp>
      <p:sp>
        <p:nvSpPr>
          <p:cNvPr id="8" name="Rectangle 7">
            <a:extLst>
              <a:ext uri="{FF2B5EF4-FFF2-40B4-BE49-F238E27FC236}">
                <a16:creationId xmlns:a16="http://schemas.microsoft.com/office/drawing/2014/main" id="{131D3616-8AC6-9FA3-EB44-D9579EA19631}"/>
              </a:ext>
            </a:extLst>
          </p:cNvPr>
          <p:cNvSpPr/>
          <p:nvPr/>
        </p:nvSpPr>
        <p:spPr>
          <a:xfrm>
            <a:off x="1461053" y="4126314"/>
            <a:ext cx="3482009" cy="5597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Expert/ Red List Authority Review</a:t>
            </a:r>
          </a:p>
        </p:txBody>
      </p:sp>
      <p:sp>
        <p:nvSpPr>
          <p:cNvPr id="9" name="Rectangle 8">
            <a:extLst>
              <a:ext uri="{FF2B5EF4-FFF2-40B4-BE49-F238E27FC236}">
                <a16:creationId xmlns:a16="http://schemas.microsoft.com/office/drawing/2014/main" id="{14A7518B-E6BB-9ACF-E1D1-8D499CCC70A3}"/>
              </a:ext>
            </a:extLst>
          </p:cNvPr>
          <p:cNvSpPr/>
          <p:nvPr/>
        </p:nvSpPr>
        <p:spPr>
          <a:xfrm>
            <a:off x="1461052" y="4996582"/>
            <a:ext cx="3482009" cy="5597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IUCN Red List Unit quality checks</a:t>
            </a:r>
          </a:p>
        </p:txBody>
      </p:sp>
      <p:sp>
        <p:nvSpPr>
          <p:cNvPr id="12" name="Rectangle 11">
            <a:extLst>
              <a:ext uri="{FF2B5EF4-FFF2-40B4-BE49-F238E27FC236}">
                <a16:creationId xmlns:a16="http://schemas.microsoft.com/office/drawing/2014/main" id="{1F3B2BAF-6853-E2ED-54A8-26621AD7C2FC}"/>
              </a:ext>
            </a:extLst>
          </p:cNvPr>
          <p:cNvSpPr/>
          <p:nvPr/>
        </p:nvSpPr>
        <p:spPr>
          <a:xfrm>
            <a:off x="1461052" y="5866848"/>
            <a:ext cx="3482009" cy="559766"/>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Published Assessment</a:t>
            </a:r>
          </a:p>
        </p:txBody>
      </p:sp>
      <p:cxnSp>
        <p:nvCxnSpPr>
          <p:cNvPr id="14" name="Straight Arrow Connector 13">
            <a:extLst>
              <a:ext uri="{FF2B5EF4-FFF2-40B4-BE49-F238E27FC236}">
                <a16:creationId xmlns:a16="http://schemas.microsoft.com/office/drawing/2014/main" id="{66C2AF3F-D417-9B1E-2997-9BB83FDA0B04}"/>
              </a:ext>
            </a:extLst>
          </p:cNvPr>
          <p:cNvCxnSpPr>
            <a:stCxn id="5" idx="2"/>
            <a:endCxn id="6" idx="0"/>
          </p:cNvCxnSpPr>
          <p:nvPr/>
        </p:nvCxnSpPr>
        <p:spPr>
          <a:xfrm>
            <a:off x="3202059" y="2075276"/>
            <a:ext cx="0" cy="31050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7584DD1-B364-F8EB-848C-7FD4CE405C4E}"/>
              </a:ext>
            </a:extLst>
          </p:cNvPr>
          <p:cNvCxnSpPr/>
          <p:nvPr/>
        </p:nvCxnSpPr>
        <p:spPr>
          <a:xfrm>
            <a:off x="3202056" y="2945544"/>
            <a:ext cx="0" cy="31050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AB66181-1CDD-AC42-F07A-CF9FA0ECF207}"/>
              </a:ext>
            </a:extLst>
          </p:cNvPr>
          <p:cNvCxnSpPr/>
          <p:nvPr/>
        </p:nvCxnSpPr>
        <p:spPr>
          <a:xfrm>
            <a:off x="3202056" y="3815812"/>
            <a:ext cx="0" cy="31050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9A57E88E-C050-EEB6-C412-39F91C52FC3F}"/>
              </a:ext>
            </a:extLst>
          </p:cNvPr>
          <p:cNvCxnSpPr/>
          <p:nvPr/>
        </p:nvCxnSpPr>
        <p:spPr>
          <a:xfrm>
            <a:off x="3190463" y="4686080"/>
            <a:ext cx="0" cy="31050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D45A2B7-A082-BDB2-05FC-84780D7967A0}"/>
              </a:ext>
            </a:extLst>
          </p:cNvPr>
          <p:cNvCxnSpPr/>
          <p:nvPr/>
        </p:nvCxnSpPr>
        <p:spPr>
          <a:xfrm>
            <a:off x="3202056" y="5556346"/>
            <a:ext cx="0" cy="31050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8885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41630-A727-9C1E-3720-27E1FE18E5D5}"/>
              </a:ext>
            </a:extLst>
          </p:cNvPr>
          <p:cNvSpPr>
            <a:spLocks noGrp="1"/>
          </p:cNvSpPr>
          <p:nvPr>
            <p:ph type="title"/>
          </p:nvPr>
        </p:nvSpPr>
        <p:spPr/>
        <p:txBody>
          <a:bodyPr/>
          <a:lstStyle/>
          <a:p>
            <a:r>
              <a:rPr lang="en-US" dirty="0"/>
              <a:t>The Red List is not law but it informs policy</a:t>
            </a:r>
          </a:p>
        </p:txBody>
      </p:sp>
      <p:sp>
        <p:nvSpPr>
          <p:cNvPr id="3" name="Content Placeholder 2">
            <a:extLst>
              <a:ext uri="{FF2B5EF4-FFF2-40B4-BE49-F238E27FC236}">
                <a16:creationId xmlns:a16="http://schemas.microsoft.com/office/drawing/2014/main" id="{E593D19F-0FAE-5390-C981-1405A225A063}"/>
              </a:ext>
            </a:extLst>
          </p:cNvPr>
          <p:cNvSpPr>
            <a:spLocks noGrp="1"/>
          </p:cNvSpPr>
          <p:nvPr>
            <p:ph idx="1"/>
          </p:nvPr>
        </p:nvSpPr>
        <p:spPr/>
        <p:txBody>
          <a:bodyPr>
            <a:normAutofit lnSpcReduction="10000"/>
          </a:bodyPr>
          <a:lstStyle/>
          <a:p>
            <a:r>
              <a:rPr lang="en-US" dirty="0"/>
              <a:t>IUCN Red List feeds into</a:t>
            </a:r>
          </a:p>
          <a:p>
            <a:pPr lvl="1"/>
            <a:r>
              <a:rPr lang="en-US" dirty="0"/>
              <a:t>conservation planning</a:t>
            </a:r>
          </a:p>
          <a:p>
            <a:pPr lvl="1"/>
            <a:r>
              <a:rPr lang="en-US" dirty="0"/>
              <a:t>national and regional conservation priorities</a:t>
            </a:r>
          </a:p>
          <a:p>
            <a:pPr lvl="1"/>
            <a:r>
              <a:rPr lang="en-US" dirty="0"/>
              <a:t>international agreements</a:t>
            </a:r>
          </a:p>
          <a:p>
            <a:pPr lvl="1"/>
            <a:r>
              <a:rPr lang="en-US" dirty="0"/>
              <a:t>global biodiversity indicators</a:t>
            </a:r>
          </a:p>
          <a:p>
            <a:r>
              <a:rPr lang="en-US" dirty="0"/>
              <a:t>Examples of international agreements</a:t>
            </a:r>
          </a:p>
          <a:p>
            <a:pPr marL="971550" lvl="1" indent="-514350">
              <a:buFont typeface="+mj-lt"/>
              <a:buAutoNum type="arabicPeriod"/>
            </a:pPr>
            <a:r>
              <a:rPr lang="en-US" dirty="0"/>
              <a:t>CITES - Red List information can inform decisions concerning international trade and revisions to CITES appendices</a:t>
            </a:r>
          </a:p>
          <a:p>
            <a:pPr marL="971550" lvl="1" indent="-514350">
              <a:buFont typeface="+mj-lt"/>
              <a:buAutoNum type="arabicPeriod"/>
            </a:pPr>
            <a:r>
              <a:rPr lang="en-US" dirty="0"/>
              <a:t>CMS - Red List information can inform decisions concerning migratory species and their conservation</a:t>
            </a:r>
          </a:p>
          <a:p>
            <a:pPr marL="971550" lvl="1" indent="-514350">
              <a:buFont typeface="+mj-lt"/>
              <a:buAutoNum type="arabicPeriod"/>
            </a:pPr>
            <a:r>
              <a:rPr lang="en-US" dirty="0"/>
              <a:t>GBF</a:t>
            </a:r>
          </a:p>
        </p:txBody>
      </p:sp>
    </p:spTree>
    <p:extLst>
      <p:ext uri="{BB962C8B-B14F-4D97-AF65-F5344CB8AC3E}">
        <p14:creationId xmlns:p14="http://schemas.microsoft.com/office/powerpoint/2010/main" val="1976748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A8E4C-AE8F-E507-10B6-54124984CB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2CB43-5534-34F6-5771-4C1C35F48E5F}"/>
              </a:ext>
            </a:extLst>
          </p:cNvPr>
          <p:cNvSpPr>
            <a:spLocks noGrp="1"/>
          </p:cNvSpPr>
          <p:nvPr>
            <p:ph type="title"/>
          </p:nvPr>
        </p:nvSpPr>
        <p:spPr/>
        <p:txBody>
          <a:bodyPr/>
          <a:lstStyle/>
          <a:p>
            <a:r>
              <a:rPr lang="en-US" dirty="0"/>
              <a:t>How do genetic indicator fit in?</a:t>
            </a:r>
          </a:p>
        </p:txBody>
      </p:sp>
      <p:sp>
        <p:nvSpPr>
          <p:cNvPr id="3" name="Content Placeholder 2">
            <a:extLst>
              <a:ext uri="{FF2B5EF4-FFF2-40B4-BE49-F238E27FC236}">
                <a16:creationId xmlns:a16="http://schemas.microsoft.com/office/drawing/2014/main" id="{91F2BD4D-7B77-ADC0-9A19-29ADC2FC0F34}"/>
              </a:ext>
            </a:extLst>
          </p:cNvPr>
          <p:cNvSpPr>
            <a:spLocks noGrp="1"/>
          </p:cNvSpPr>
          <p:nvPr>
            <p:ph idx="1"/>
          </p:nvPr>
        </p:nvSpPr>
        <p:spPr>
          <a:xfrm>
            <a:off x="838200" y="1573833"/>
            <a:ext cx="10515600" cy="1421158"/>
          </a:xfrm>
        </p:spPr>
        <p:style>
          <a:lnRef idx="3">
            <a:schemeClr val="lt1"/>
          </a:lnRef>
          <a:fillRef idx="1">
            <a:schemeClr val="accent4"/>
          </a:fillRef>
          <a:effectRef idx="1">
            <a:schemeClr val="accent4"/>
          </a:effectRef>
          <a:fontRef idx="minor">
            <a:schemeClr val="lt1"/>
          </a:fontRef>
        </p:style>
        <p:txBody>
          <a:bodyPr/>
          <a:lstStyle/>
          <a:p>
            <a:pPr marL="0" indent="0">
              <a:buNone/>
            </a:pPr>
            <a:r>
              <a:rPr lang="en-US" b="1" dirty="0">
                <a:solidFill>
                  <a:sysClr val="windowText" lastClr="000000"/>
                </a:solidFill>
              </a:rPr>
              <a:t>Goal A</a:t>
            </a:r>
          </a:p>
          <a:p>
            <a:pPr marL="0" indent="0">
              <a:buNone/>
            </a:pPr>
            <a:r>
              <a:rPr lang="en-US" dirty="0">
                <a:solidFill>
                  <a:sysClr val="windowText" lastClr="000000"/>
                </a:solidFill>
              </a:rPr>
              <a:t>Maintain ecosystem integrity, reduce extinction risk, increase abundance of native species, and maintain genetic diversity.</a:t>
            </a:r>
          </a:p>
          <a:p>
            <a:pPr marL="0" indent="0">
              <a:buNone/>
            </a:pPr>
            <a:endParaRPr lang="en-US" dirty="0">
              <a:solidFill>
                <a:sysClr val="windowText" lastClr="000000"/>
              </a:solidFill>
            </a:endParaRPr>
          </a:p>
        </p:txBody>
      </p:sp>
      <p:sp>
        <p:nvSpPr>
          <p:cNvPr id="4" name="Content Placeholder 2">
            <a:extLst>
              <a:ext uri="{FF2B5EF4-FFF2-40B4-BE49-F238E27FC236}">
                <a16:creationId xmlns:a16="http://schemas.microsoft.com/office/drawing/2014/main" id="{05CEC2B8-D97F-6D08-F791-7FDC8CEED0B9}"/>
              </a:ext>
            </a:extLst>
          </p:cNvPr>
          <p:cNvSpPr txBox="1">
            <a:spLocks/>
          </p:cNvSpPr>
          <p:nvPr/>
        </p:nvSpPr>
        <p:spPr>
          <a:xfrm>
            <a:off x="838200" y="3152431"/>
            <a:ext cx="10515600" cy="1421158"/>
          </a:xfrm>
          <a:prstGeom prst="rect">
            <a:avLst/>
          </a:prstGeom>
        </p:spPr>
        <p:style>
          <a:lnRef idx="3">
            <a:schemeClr val="lt1"/>
          </a:lnRef>
          <a:fillRef idx="1">
            <a:schemeClr val="accent5"/>
          </a:fillRef>
          <a:effectRef idx="1">
            <a:schemeClr val="accent5"/>
          </a:effectRef>
          <a:fontRef idx="minor">
            <a:schemeClr val="lt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Target 4</a:t>
            </a:r>
          </a:p>
          <a:p>
            <a:pPr marL="0" indent="0">
              <a:buNone/>
            </a:pPr>
            <a:r>
              <a:rPr lang="en-US" dirty="0"/>
              <a:t>Halt species extinction, protect genetic diversity, and manage human–wildlife conflicts.</a:t>
            </a:r>
          </a:p>
        </p:txBody>
      </p:sp>
      <p:sp>
        <p:nvSpPr>
          <p:cNvPr id="6" name="Content Placeholder 2">
            <a:extLst>
              <a:ext uri="{FF2B5EF4-FFF2-40B4-BE49-F238E27FC236}">
                <a16:creationId xmlns:a16="http://schemas.microsoft.com/office/drawing/2014/main" id="{6E47A588-E7AD-928E-C360-EC5C9D322EEB}"/>
              </a:ext>
            </a:extLst>
          </p:cNvPr>
          <p:cNvSpPr txBox="1">
            <a:spLocks/>
          </p:cNvSpPr>
          <p:nvPr/>
        </p:nvSpPr>
        <p:spPr>
          <a:xfrm>
            <a:off x="6281530" y="4763536"/>
            <a:ext cx="5257800" cy="1421158"/>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A.4 — Proportion of populations with Ne &gt; 500</a:t>
            </a:r>
            <a:br>
              <a:rPr lang="en-US" dirty="0"/>
            </a:br>
            <a:r>
              <a:rPr lang="en-US" i="1" dirty="0"/>
              <a:t>Are populations maintaining sufficient effective population sizes?</a:t>
            </a:r>
            <a:endParaRPr lang="en-US" dirty="0"/>
          </a:p>
        </p:txBody>
      </p:sp>
      <p:sp>
        <p:nvSpPr>
          <p:cNvPr id="5" name="Content Placeholder 2">
            <a:extLst>
              <a:ext uri="{FF2B5EF4-FFF2-40B4-BE49-F238E27FC236}">
                <a16:creationId xmlns:a16="http://schemas.microsoft.com/office/drawing/2014/main" id="{1A357C04-04BE-C6CD-4940-7A7D772465B7}"/>
              </a:ext>
            </a:extLst>
          </p:cNvPr>
          <p:cNvSpPr txBox="1">
            <a:spLocks/>
          </p:cNvSpPr>
          <p:nvPr/>
        </p:nvSpPr>
        <p:spPr>
          <a:xfrm>
            <a:off x="838200" y="4768644"/>
            <a:ext cx="5257800" cy="1421158"/>
          </a:xfrm>
          <a:prstGeom prst="rect">
            <a:avLst/>
          </a:prstGeom>
        </p:spPr>
        <p:style>
          <a:lnRef idx="3">
            <a:schemeClr val="lt1"/>
          </a:lnRef>
          <a:fillRef idx="1">
            <a:schemeClr val="accent6"/>
          </a:fillRef>
          <a:effectRef idx="1">
            <a:schemeClr val="accent6"/>
          </a:effectRef>
          <a:fontRef idx="minor">
            <a:schemeClr val="lt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A.3 — Red List Index</a:t>
            </a:r>
            <a:br>
              <a:rPr lang="en-US" dirty="0"/>
            </a:br>
            <a:r>
              <a:rPr lang="en-US" i="1" dirty="0"/>
              <a:t>Are extinction risks across species improving or worsening?</a:t>
            </a:r>
            <a:endParaRPr lang="en-US" dirty="0"/>
          </a:p>
        </p:txBody>
      </p:sp>
    </p:spTree>
    <p:extLst>
      <p:ext uri="{BB962C8B-B14F-4D97-AF65-F5344CB8AC3E}">
        <p14:creationId xmlns:p14="http://schemas.microsoft.com/office/powerpoint/2010/main" val="7244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D9FC5-8A1A-750F-A498-8C0A1D52C818}"/>
              </a:ext>
            </a:extLst>
          </p:cNvPr>
          <p:cNvSpPr>
            <a:spLocks noGrp="1"/>
          </p:cNvSpPr>
          <p:nvPr>
            <p:ph type="title"/>
          </p:nvPr>
        </p:nvSpPr>
        <p:spPr/>
        <p:txBody>
          <a:bodyPr/>
          <a:lstStyle/>
          <a:p>
            <a:r>
              <a:rPr lang="en-US" dirty="0"/>
              <a:t>Genetic Diversity in the Global Biodiversity Framework</a:t>
            </a:r>
          </a:p>
        </p:txBody>
      </p:sp>
      <p:sp>
        <p:nvSpPr>
          <p:cNvPr id="3" name="Content Placeholder 2">
            <a:extLst>
              <a:ext uri="{FF2B5EF4-FFF2-40B4-BE49-F238E27FC236}">
                <a16:creationId xmlns:a16="http://schemas.microsoft.com/office/drawing/2014/main" id="{A25B25F4-E52F-4EB5-826A-89D5D988372E}"/>
              </a:ext>
            </a:extLst>
          </p:cNvPr>
          <p:cNvSpPr>
            <a:spLocks noGrp="1"/>
          </p:cNvSpPr>
          <p:nvPr>
            <p:ph idx="1"/>
          </p:nvPr>
        </p:nvSpPr>
        <p:spPr>
          <a:xfrm>
            <a:off x="838200" y="1966201"/>
            <a:ext cx="4532826" cy="2647840"/>
          </a:xfrm>
        </p:spPr>
        <p:txBody>
          <a:bodyPr/>
          <a:lstStyle/>
          <a:p>
            <a:pPr marL="0" indent="0">
              <a:buNone/>
            </a:pPr>
            <a:r>
              <a:rPr lang="en-US" sz="3200" b="1" dirty="0">
                <a:solidFill>
                  <a:schemeClr val="accent1"/>
                </a:solidFill>
              </a:rPr>
              <a:t>Goal A</a:t>
            </a:r>
            <a:endParaRPr lang="en-US" b="1" dirty="0">
              <a:solidFill>
                <a:schemeClr val="accent1"/>
              </a:solidFill>
            </a:endParaRPr>
          </a:p>
          <a:p>
            <a:pPr marL="0" indent="0">
              <a:buNone/>
            </a:pPr>
            <a:r>
              <a:rPr lang="en-US" dirty="0"/>
              <a:t>The genetic diversity </a:t>
            </a:r>
            <a:r>
              <a:rPr lang="en-US" b="1" dirty="0">
                <a:solidFill>
                  <a:schemeClr val="accent1"/>
                </a:solidFill>
              </a:rPr>
              <a:t>within populations</a:t>
            </a:r>
            <a:r>
              <a:rPr lang="en-US" dirty="0"/>
              <a:t> of </a:t>
            </a:r>
            <a:r>
              <a:rPr lang="en-US" b="1" dirty="0">
                <a:solidFill>
                  <a:schemeClr val="accent1"/>
                </a:solidFill>
              </a:rPr>
              <a:t>wild</a:t>
            </a:r>
            <a:r>
              <a:rPr lang="en-US" dirty="0"/>
              <a:t> and </a:t>
            </a:r>
            <a:r>
              <a:rPr lang="en-US" b="1" dirty="0">
                <a:solidFill>
                  <a:schemeClr val="accent1"/>
                </a:solidFill>
              </a:rPr>
              <a:t>domesticated</a:t>
            </a:r>
            <a:r>
              <a:rPr lang="en-US" dirty="0"/>
              <a:t> species, is maintained, safeguarding their adaptive potential.</a:t>
            </a:r>
          </a:p>
        </p:txBody>
      </p:sp>
      <p:sp>
        <p:nvSpPr>
          <p:cNvPr id="4" name="Content Placeholder 2">
            <a:extLst>
              <a:ext uri="{FF2B5EF4-FFF2-40B4-BE49-F238E27FC236}">
                <a16:creationId xmlns:a16="http://schemas.microsoft.com/office/drawing/2014/main" id="{7815C719-FF17-0BAE-6CFF-C97C16B69D33}"/>
              </a:ext>
            </a:extLst>
          </p:cNvPr>
          <p:cNvSpPr txBox="1">
            <a:spLocks/>
          </p:cNvSpPr>
          <p:nvPr/>
        </p:nvSpPr>
        <p:spPr>
          <a:xfrm>
            <a:off x="6820975" y="1966201"/>
            <a:ext cx="4532824" cy="34045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b="1" dirty="0">
                <a:solidFill>
                  <a:schemeClr val="accent3"/>
                </a:solidFill>
              </a:rPr>
              <a:t>Target 4</a:t>
            </a:r>
          </a:p>
          <a:p>
            <a:pPr marL="0" indent="0">
              <a:buFont typeface="Arial" panose="020B0604020202020204" pitchFamily="34" charset="0"/>
              <a:buNone/>
            </a:pPr>
            <a:r>
              <a:rPr lang="en-US" dirty="0"/>
              <a:t>…maintain and restore the genetic diversity </a:t>
            </a:r>
            <a:r>
              <a:rPr lang="en-US" b="1" u="sng" dirty="0">
                <a:solidFill>
                  <a:schemeClr val="accent3"/>
                </a:solidFill>
              </a:rPr>
              <a:t>within</a:t>
            </a:r>
            <a:r>
              <a:rPr lang="en-US" b="1" dirty="0">
                <a:solidFill>
                  <a:schemeClr val="accent3"/>
                </a:solidFill>
              </a:rPr>
              <a:t> and </a:t>
            </a:r>
            <a:r>
              <a:rPr lang="en-US" b="1" u="sng" dirty="0">
                <a:solidFill>
                  <a:schemeClr val="accent3"/>
                </a:solidFill>
              </a:rPr>
              <a:t>between</a:t>
            </a:r>
            <a:r>
              <a:rPr lang="en-US" b="1" dirty="0">
                <a:solidFill>
                  <a:schemeClr val="accent3"/>
                </a:solidFill>
              </a:rPr>
              <a:t> populations</a:t>
            </a:r>
            <a:r>
              <a:rPr lang="en-US" dirty="0"/>
              <a:t> of native, </a:t>
            </a:r>
            <a:r>
              <a:rPr lang="en-US" b="1" dirty="0">
                <a:solidFill>
                  <a:schemeClr val="accent3"/>
                </a:solidFill>
              </a:rPr>
              <a:t>wild</a:t>
            </a:r>
            <a:r>
              <a:rPr lang="en-US" dirty="0"/>
              <a:t> and </a:t>
            </a:r>
            <a:r>
              <a:rPr lang="en-US" b="1" dirty="0">
                <a:solidFill>
                  <a:schemeClr val="accent3"/>
                </a:solidFill>
              </a:rPr>
              <a:t>domesticated</a:t>
            </a:r>
            <a:r>
              <a:rPr lang="en-US" dirty="0"/>
              <a:t> species to maintain their adaptive potential.</a:t>
            </a:r>
          </a:p>
        </p:txBody>
      </p:sp>
      <p:pic>
        <p:nvPicPr>
          <p:cNvPr id="3074" name="Picture 2" descr="e-Learning Catalogue: The Kunming Montreal Global Biodiversity Framework –  Learning for Nature">
            <a:extLst>
              <a:ext uri="{FF2B5EF4-FFF2-40B4-BE49-F238E27FC236}">
                <a16:creationId xmlns:a16="http://schemas.microsoft.com/office/drawing/2014/main" id="{2B34FC35-7A6B-1781-D582-2630EA0272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7434" y="5233793"/>
            <a:ext cx="6737132" cy="1512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923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65070-BE24-6A5C-78A2-340768EC7276}"/>
              </a:ext>
            </a:extLst>
          </p:cNvPr>
          <p:cNvSpPr>
            <a:spLocks noGrp="1"/>
          </p:cNvSpPr>
          <p:nvPr>
            <p:ph type="title"/>
          </p:nvPr>
        </p:nvSpPr>
        <p:spPr/>
        <p:txBody>
          <a:bodyPr/>
          <a:lstStyle/>
          <a:p>
            <a:r>
              <a:rPr lang="en-US" dirty="0"/>
              <a:t>What are the genetic indicators?</a:t>
            </a:r>
          </a:p>
        </p:txBody>
      </p:sp>
      <p:pic>
        <p:nvPicPr>
          <p:cNvPr id="1026" name="Picture 2" descr="Overview | Genetic Diversity Indicators">
            <a:extLst>
              <a:ext uri="{FF2B5EF4-FFF2-40B4-BE49-F238E27FC236}">
                <a16:creationId xmlns:a16="http://schemas.microsoft.com/office/drawing/2014/main" id="{7740B4BF-9D55-6B7E-449F-7E828CDE92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4208" y="1621198"/>
            <a:ext cx="8123583" cy="4555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5518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E6B44-6778-ACCF-611D-FD00097B69AA}"/>
              </a:ext>
            </a:extLst>
          </p:cNvPr>
          <p:cNvSpPr>
            <a:spLocks noGrp="1"/>
          </p:cNvSpPr>
          <p:nvPr>
            <p:ph type="title"/>
          </p:nvPr>
        </p:nvSpPr>
        <p:spPr/>
        <p:txBody>
          <a:bodyPr/>
          <a:lstStyle/>
          <a:p>
            <a:r>
              <a:rPr lang="en-US" dirty="0"/>
              <a:t>How we’ve used the indicators</a:t>
            </a:r>
          </a:p>
        </p:txBody>
      </p:sp>
      <p:pic>
        <p:nvPicPr>
          <p:cNvPr id="5" name="Content Placeholder 4" descr="A green and white rectangular sign&#10;&#10;Description automatically generated">
            <a:extLst>
              <a:ext uri="{FF2B5EF4-FFF2-40B4-BE49-F238E27FC236}">
                <a16:creationId xmlns:a16="http://schemas.microsoft.com/office/drawing/2014/main" id="{8A2CF217-4943-632F-1F29-2FDA1BEDCAEE}"/>
              </a:ext>
            </a:extLst>
          </p:cNvPr>
          <p:cNvPicPr>
            <a:picLocks noGrp="1" noChangeAspect="1"/>
          </p:cNvPicPr>
          <p:nvPr>
            <p:ph idx="1"/>
          </p:nvPr>
        </p:nvPicPr>
        <p:blipFill rotWithShape="1">
          <a:blip r:embed="rId2"/>
          <a:srcRect r="1950" b="55864"/>
          <a:stretch/>
        </p:blipFill>
        <p:spPr>
          <a:xfrm>
            <a:off x="1651000" y="1690688"/>
            <a:ext cx="8716662" cy="1126653"/>
          </a:xfrm>
        </p:spPr>
      </p:pic>
      <p:pic>
        <p:nvPicPr>
          <p:cNvPr id="7" name="Picture 6" descr="A green and white rectangular sign&#10;&#10;Description automatically generated">
            <a:extLst>
              <a:ext uri="{FF2B5EF4-FFF2-40B4-BE49-F238E27FC236}">
                <a16:creationId xmlns:a16="http://schemas.microsoft.com/office/drawing/2014/main" id="{4735AEA7-7AED-3D1C-4DEF-9611AB3A3DC9}"/>
              </a:ext>
            </a:extLst>
          </p:cNvPr>
          <p:cNvPicPr>
            <a:picLocks noChangeAspect="1"/>
          </p:cNvPicPr>
          <p:nvPr/>
        </p:nvPicPr>
        <p:blipFill rotWithShape="1">
          <a:blip r:embed="rId2"/>
          <a:srcRect t="64110"/>
          <a:stretch/>
        </p:blipFill>
        <p:spPr>
          <a:xfrm>
            <a:off x="1824338" y="2817341"/>
            <a:ext cx="8320560" cy="877330"/>
          </a:xfrm>
          <a:prstGeom prst="rect">
            <a:avLst/>
          </a:prstGeom>
        </p:spPr>
      </p:pic>
      <p:pic>
        <p:nvPicPr>
          <p:cNvPr id="8" name="Picture 7">
            <a:extLst>
              <a:ext uri="{FF2B5EF4-FFF2-40B4-BE49-F238E27FC236}">
                <a16:creationId xmlns:a16="http://schemas.microsoft.com/office/drawing/2014/main" id="{C3CAB4EF-7A63-98B4-CFC3-07F0D1768930}"/>
              </a:ext>
            </a:extLst>
          </p:cNvPr>
          <p:cNvPicPr>
            <a:picLocks noChangeAspect="1"/>
          </p:cNvPicPr>
          <p:nvPr/>
        </p:nvPicPr>
        <p:blipFill>
          <a:blip r:embed="rId3"/>
          <a:stretch>
            <a:fillRect/>
          </a:stretch>
        </p:blipFill>
        <p:spPr>
          <a:xfrm>
            <a:off x="2808228" y="3796595"/>
            <a:ext cx="1803399" cy="1133664"/>
          </a:xfrm>
          <a:prstGeom prst="rect">
            <a:avLst/>
          </a:prstGeom>
        </p:spPr>
      </p:pic>
      <p:pic>
        <p:nvPicPr>
          <p:cNvPr id="9" name="Picture 8">
            <a:extLst>
              <a:ext uri="{FF2B5EF4-FFF2-40B4-BE49-F238E27FC236}">
                <a16:creationId xmlns:a16="http://schemas.microsoft.com/office/drawing/2014/main" id="{993B4310-0087-5274-ECEF-1FE9C56EECBF}"/>
              </a:ext>
            </a:extLst>
          </p:cNvPr>
          <p:cNvPicPr>
            <a:picLocks noChangeAspect="1"/>
          </p:cNvPicPr>
          <p:nvPr/>
        </p:nvPicPr>
        <p:blipFill>
          <a:blip r:embed="rId4"/>
          <a:stretch>
            <a:fillRect/>
          </a:stretch>
        </p:blipFill>
        <p:spPr>
          <a:xfrm>
            <a:off x="5776976" y="3796595"/>
            <a:ext cx="1803399" cy="1117600"/>
          </a:xfrm>
          <a:prstGeom prst="rect">
            <a:avLst/>
          </a:prstGeom>
        </p:spPr>
      </p:pic>
      <p:pic>
        <p:nvPicPr>
          <p:cNvPr id="10" name="Picture 9">
            <a:extLst>
              <a:ext uri="{FF2B5EF4-FFF2-40B4-BE49-F238E27FC236}">
                <a16:creationId xmlns:a16="http://schemas.microsoft.com/office/drawing/2014/main" id="{7DB603FD-E4AC-AB47-F534-B366E2DF4BD0}"/>
              </a:ext>
            </a:extLst>
          </p:cNvPr>
          <p:cNvPicPr>
            <a:picLocks noChangeAspect="1"/>
          </p:cNvPicPr>
          <p:nvPr/>
        </p:nvPicPr>
        <p:blipFill>
          <a:blip r:embed="rId5"/>
          <a:stretch>
            <a:fillRect/>
          </a:stretch>
        </p:blipFill>
        <p:spPr>
          <a:xfrm>
            <a:off x="10132444" y="5214714"/>
            <a:ext cx="1801003" cy="1117600"/>
          </a:xfrm>
          <a:prstGeom prst="rect">
            <a:avLst/>
          </a:prstGeom>
        </p:spPr>
      </p:pic>
      <p:pic>
        <p:nvPicPr>
          <p:cNvPr id="12" name="Picture 11">
            <a:extLst>
              <a:ext uri="{FF2B5EF4-FFF2-40B4-BE49-F238E27FC236}">
                <a16:creationId xmlns:a16="http://schemas.microsoft.com/office/drawing/2014/main" id="{A2D3A2BA-ACA3-7B3A-B99C-1872BC45775C}"/>
              </a:ext>
            </a:extLst>
          </p:cNvPr>
          <p:cNvPicPr>
            <a:picLocks noChangeAspect="1"/>
          </p:cNvPicPr>
          <p:nvPr/>
        </p:nvPicPr>
        <p:blipFill>
          <a:blip r:embed="rId6"/>
          <a:stretch>
            <a:fillRect/>
          </a:stretch>
        </p:blipFill>
        <p:spPr>
          <a:xfrm>
            <a:off x="8762976" y="3837698"/>
            <a:ext cx="1803399" cy="1117598"/>
          </a:xfrm>
          <a:prstGeom prst="rect">
            <a:avLst/>
          </a:prstGeom>
        </p:spPr>
      </p:pic>
      <p:pic>
        <p:nvPicPr>
          <p:cNvPr id="13" name="Picture 12">
            <a:extLst>
              <a:ext uri="{FF2B5EF4-FFF2-40B4-BE49-F238E27FC236}">
                <a16:creationId xmlns:a16="http://schemas.microsoft.com/office/drawing/2014/main" id="{068C7C1B-1478-E95F-F690-9762A93B5E8D}"/>
              </a:ext>
            </a:extLst>
          </p:cNvPr>
          <p:cNvPicPr>
            <a:picLocks noChangeAspect="1"/>
          </p:cNvPicPr>
          <p:nvPr/>
        </p:nvPicPr>
        <p:blipFill>
          <a:blip r:embed="rId7"/>
          <a:stretch>
            <a:fillRect/>
          </a:stretch>
        </p:blipFill>
        <p:spPr>
          <a:xfrm>
            <a:off x="7212522" y="5237253"/>
            <a:ext cx="1803400" cy="1117599"/>
          </a:xfrm>
          <a:prstGeom prst="rect">
            <a:avLst/>
          </a:prstGeom>
        </p:spPr>
      </p:pic>
      <p:pic>
        <p:nvPicPr>
          <p:cNvPr id="14" name="Picture 13">
            <a:extLst>
              <a:ext uri="{FF2B5EF4-FFF2-40B4-BE49-F238E27FC236}">
                <a16:creationId xmlns:a16="http://schemas.microsoft.com/office/drawing/2014/main" id="{5099AF5F-9C2C-A782-2250-110D2EBA1CAA}"/>
              </a:ext>
            </a:extLst>
          </p:cNvPr>
          <p:cNvPicPr>
            <a:picLocks noChangeAspect="1"/>
          </p:cNvPicPr>
          <p:nvPr/>
        </p:nvPicPr>
        <p:blipFill>
          <a:blip r:embed="rId8"/>
          <a:stretch>
            <a:fillRect/>
          </a:stretch>
        </p:blipFill>
        <p:spPr>
          <a:xfrm>
            <a:off x="1004828" y="5237252"/>
            <a:ext cx="1803400" cy="1117600"/>
          </a:xfrm>
          <a:prstGeom prst="rect">
            <a:avLst/>
          </a:prstGeom>
        </p:spPr>
      </p:pic>
      <p:pic>
        <p:nvPicPr>
          <p:cNvPr id="15" name="Picture 14">
            <a:extLst>
              <a:ext uri="{FF2B5EF4-FFF2-40B4-BE49-F238E27FC236}">
                <a16:creationId xmlns:a16="http://schemas.microsoft.com/office/drawing/2014/main" id="{AA973AB6-5C6C-D52C-57F3-22F00061639C}"/>
              </a:ext>
            </a:extLst>
          </p:cNvPr>
          <p:cNvPicPr>
            <a:picLocks noChangeAspect="1"/>
          </p:cNvPicPr>
          <p:nvPr/>
        </p:nvPicPr>
        <p:blipFill>
          <a:blip r:embed="rId9"/>
          <a:stretch>
            <a:fillRect/>
          </a:stretch>
        </p:blipFill>
        <p:spPr>
          <a:xfrm>
            <a:off x="4292600" y="5237252"/>
            <a:ext cx="1803400" cy="1117600"/>
          </a:xfrm>
          <a:prstGeom prst="rect">
            <a:avLst/>
          </a:prstGeom>
        </p:spPr>
      </p:pic>
      <p:pic>
        <p:nvPicPr>
          <p:cNvPr id="16" name="Picture 15">
            <a:extLst>
              <a:ext uri="{FF2B5EF4-FFF2-40B4-BE49-F238E27FC236}">
                <a16:creationId xmlns:a16="http://schemas.microsoft.com/office/drawing/2014/main" id="{53B10DDE-B072-193E-CD39-E38DB748974C}"/>
              </a:ext>
            </a:extLst>
          </p:cNvPr>
          <p:cNvPicPr>
            <a:picLocks noChangeAspect="1"/>
          </p:cNvPicPr>
          <p:nvPr/>
        </p:nvPicPr>
        <p:blipFill>
          <a:blip r:embed="rId10"/>
          <a:stretch>
            <a:fillRect/>
          </a:stretch>
        </p:blipFill>
        <p:spPr>
          <a:xfrm>
            <a:off x="251634" y="3796595"/>
            <a:ext cx="1803400" cy="1126653"/>
          </a:xfrm>
          <a:prstGeom prst="rect">
            <a:avLst/>
          </a:prstGeom>
        </p:spPr>
      </p:pic>
    </p:spTree>
    <p:extLst>
      <p:ext uri="{BB962C8B-B14F-4D97-AF65-F5344CB8AC3E}">
        <p14:creationId xmlns:p14="http://schemas.microsoft.com/office/powerpoint/2010/main" val="3011552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E6B44-6778-ACCF-611D-FD00097B69AA}"/>
              </a:ext>
            </a:extLst>
          </p:cNvPr>
          <p:cNvSpPr>
            <a:spLocks noGrp="1"/>
          </p:cNvSpPr>
          <p:nvPr>
            <p:ph type="title"/>
          </p:nvPr>
        </p:nvSpPr>
        <p:spPr/>
        <p:txBody>
          <a:bodyPr/>
          <a:lstStyle/>
          <a:p>
            <a:r>
              <a:rPr lang="en-US" dirty="0"/>
              <a:t>How we’ve used the indicators</a:t>
            </a:r>
          </a:p>
        </p:txBody>
      </p:sp>
      <p:pic>
        <p:nvPicPr>
          <p:cNvPr id="16" name="Picture 15">
            <a:extLst>
              <a:ext uri="{FF2B5EF4-FFF2-40B4-BE49-F238E27FC236}">
                <a16:creationId xmlns:a16="http://schemas.microsoft.com/office/drawing/2014/main" id="{53B10DDE-B072-193E-CD39-E38DB748974C}"/>
              </a:ext>
            </a:extLst>
          </p:cNvPr>
          <p:cNvPicPr>
            <a:picLocks noChangeAspect="1"/>
          </p:cNvPicPr>
          <p:nvPr/>
        </p:nvPicPr>
        <p:blipFill>
          <a:blip r:embed="rId2"/>
          <a:stretch>
            <a:fillRect/>
          </a:stretch>
        </p:blipFill>
        <p:spPr>
          <a:xfrm>
            <a:off x="277514" y="1690688"/>
            <a:ext cx="1803400" cy="1126653"/>
          </a:xfrm>
          <a:prstGeom prst="rect">
            <a:avLst/>
          </a:prstGeom>
        </p:spPr>
      </p:pic>
      <p:pic>
        <p:nvPicPr>
          <p:cNvPr id="4" name="Picture 3" descr="A diagram of different types of species&#10;&#10;AI-generated content may be incorrect.">
            <a:extLst>
              <a:ext uri="{FF2B5EF4-FFF2-40B4-BE49-F238E27FC236}">
                <a16:creationId xmlns:a16="http://schemas.microsoft.com/office/drawing/2014/main" id="{8465FE57-8DF5-F883-13A3-74B2B7F5D43C}"/>
              </a:ext>
            </a:extLst>
          </p:cNvPr>
          <p:cNvPicPr>
            <a:picLocks noChangeAspect="1"/>
          </p:cNvPicPr>
          <p:nvPr/>
        </p:nvPicPr>
        <p:blipFill>
          <a:blip r:embed="rId3"/>
          <a:stretch>
            <a:fillRect/>
          </a:stretch>
        </p:blipFill>
        <p:spPr>
          <a:xfrm>
            <a:off x="2209800" y="1215762"/>
            <a:ext cx="7772400" cy="5277113"/>
          </a:xfrm>
          <a:prstGeom prst="rect">
            <a:avLst/>
          </a:prstGeom>
        </p:spPr>
      </p:pic>
    </p:spTree>
    <p:extLst>
      <p:ext uri="{BB962C8B-B14F-4D97-AF65-F5344CB8AC3E}">
        <p14:creationId xmlns:p14="http://schemas.microsoft.com/office/powerpoint/2010/main" val="40805703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E6B44-6778-ACCF-611D-FD00097B69AA}"/>
              </a:ext>
            </a:extLst>
          </p:cNvPr>
          <p:cNvSpPr>
            <a:spLocks noGrp="1"/>
          </p:cNvSpPr>
          <p:nvPr>
            <p:ph type="title"/>
          </p:nvPr>
        </p:nvSpPr>
        <p:spPr/>
        <p:txBody>
          <a:bodyPr/>
          <a:lstStyle/>
          <a:p>
            <a:r>
              <a:rPr lang="en-US" dirty="0"/>
              <a:t>How we’ve used the indicators</a:t>
            </a:r>
          </a:p>
        </p:txBody>
      </p:sp>
      <p:pic>
        <p:nvPicPr>
          <p:cNvPr id="16" name="Picture 15">
            <a:extLst>
              <a:ext uri="{FF2B5EF4-FFF2-40B4-BE49-F238E27FC236}">
                <a16:creationId xmlns:a16="http://schemas.microsoft.com/office/drawing/2014/main" id="{53B10DDE-B072-193E-CD39-E38DB748974C}"/>
              </a:ext>
            </a:extLst>
          </p:cNvPr>
          <p:cNvPicPr>
            <a:picLocks noChangeAspect="1"/>
          </p:cNvPicPr>
          <p:nvPr/>
        </p:nvPicPr>
        <p:blipFill>
          <a:blip r:embed="rId2"/>
          <a:stretch>
            <a:fillRect/>
          </a:stretch>
        </p:blipFill>
        <p:spPr>
          <a:xfrm>
            <a:off x="277514" y="1690688"/>
            <a:ext cx="1803400" cy="1126653"/>
          </a:xfrm>
          <a:prstGeom prst="rect">
            <a:avLst/>
          </a:prstGeom>
        </p:spPr>
      </p:pic>
      <p:pic>
        <p:nvPicPr>
          <p:cNvPr id="5" name="Picture 4" descr="A screenshot of a diagram&#10;&#10;AI-generated content may be incorrect.">
            <a:extLst>
              <a:ext uri="{FF2B5EF4-FFF2-40B4-BE49-F238E27FC236}">
                <a16:creationId xmlns:a16="http://schemas.microsoft.com/office/drawing/2014/main" id="{08C248D2-B12F-3F64-0082-2CFFAA8FB756}"/>
              </a:ext>
            </a:extLst>
          </p:cNvPr>
          <p:cNvPicPr>
            <a:picLocks noChangeAspect="1"/>
          </p:cNvPicPr>
          <p:nvPr/>
        </p:nvPicPr>
        <p:blipFill>
          <a:blip r:embed="rId3"/>
          <a:stretch>
            <a:fillRect/>
          </a:stretch>
        </p:blipFill>
        <p:spPr>
          <a:xfrm>
            <a:off x="3321228" y="1380901"/>
            <a:ext cx="5549543" cy="5364558"/>
          </a:xfrm>
          <a:prstGeom prst="rect">
            <a:avLst/>
          </a:prstGeom>
        </p:spPr>
      </p:pic>
    </p:spTree>
    <p:extLst>
      <p:ext uri="{BB962C8B-B14F-4D97-AF65-F5344CB8AC3E}">
        <p14:creationId xmlns:p14="http://schemas.microsoft.com/office/powerpoint/2010/main" val="2941003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150</TotalTime>
  <Words>810</Words>
  <Application>Microsoft Macintosh PowerPoint</Application>
  <PresentationFormat>Widescreen</PresentationFormat>
  <Paragraphs>95</Paragraphs>
  <Slides>16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Arial</vt:lpstr>
      <vt:lpstr>Calibri</vt:lpstr>
      <vt:lpstr>Calibri Light</vt:lpstr>
      <vt:lpstr>Office 2013 - 2022 Theme</vt:lpstr>
      <vt:lpstr>Global Policy</vt:lpstr>
      <vt:lpstr>Convention On Biodiversity</vt:lpstr>
      <vt:lpstr>Global Biodiversity Framework</vt:lpstr>
      <vt:lpstr>Global Biodiversity Framework</vt:lpstr>
      <vt:lpstr>How does the IUCN Red List fit into the GBF?</vt:lpstr>
      <vt:lpstr>Where the Red List fits</vt:lpstr>
      <vt:lpstr>What is the IUCN Red List</vt:lpstr>
      <vt:lpstr>IUCN Categorization</vt:lpstr>
      <vt:lpstr>Flow of Information</vt:lpstr>
      <vt:lpstr>The Red List is not law but it informs policy</vt:lpstr>
      <vt:lpstr>How do genetic indicator fit in?</vt:lpstr>
      <vt:lpstr>Genetic Diversity in the Global Biodiversity Framework</vt:lpstr>
      <vt:lpstr>What are the genetic indicators?</vt:lpstr>
      <vt:lpstr>How we’ve used the indicators</vt:lpstr>
      <vt:lpstr>How we’ve used the indicators</vt:lpstr>
      <vt:lpstr>How we’ve used the indicators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Erica Robertson</dc:creator>
  <cp:lastModifiedBy>Erica Robertson</cp:lastModifiedBy>
  <cp:revision>13</cp:revision>
  <dcterms:created xsi:type="dcterms:W3CDTF">2026-09-21T14:37:01Z</dcterms:created>
  <dcterms:modified xsi:type="dcterms:W3CDTF">2026-09-23T22:20:03Z</dcterms:modified>
</cp:coreProperties>
</file>