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10"/>
  </p:notesMasterIdLst>
  <p:sldIdLst>
    <p:sldId id="256" r:id="rId2"/>
    <p:sldId id="257" r:id="rId3"/>
    <p:sldId id="259" r:id="rId4"/>
    <p:sldId id="261" r:id="rId5"/>
    <p:sldId id="262" r:id="rId6"/>
    <p:sldId id="265" r:id="rId7"/>
    <p:sldId id="264" r:id="rId8"/>
    <p:sldId id="266" r:id="rId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4153"/>
    <p:restoredTop sz="84041"/>
  </p:normalViewPr>
  <p:slideViewPr>
    <p:cSldViewPr snapToGrid="0">
      <p:cViewPr varScale="1">
        <p:scale>
          <a:sx n="96" d="100"/>
          <a:sy n="96" d="100"/>
        </p:scale>
        <p:origin x="176" y="3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43F6A40-99C4-6544-905A-A025936DBC02}" type="datetimeFigureOut">
              <a:rPr lang="en-US" smtClean="0"/>
              <a:t>9/21/26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71840B8-E582-6E44-9E68-439566DD72E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898805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CITES: Convention on International Trade in Endangered Species of Wild Fauna and Flora</a:t>
            </a:r>
          </a:p>
          <a:p>
            <a:r>
              <a:rPr lang="en-US" dirty="0"/>
              <a:t>CMS: Convention on Migratory Species</a:t>
            </a:r>
          </a:p>
          <a:p>
            <a:r>
              <a:rPr lang="en-US" dirty="0"/>
              <a:t>GBF: Global Biodiversity Framework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71840B8-E582-6E44-9E68-439566DD72E5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826579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A.3 looks primarily at species-level extinction risk.</a:t>
            </a:r>
            <a:br>
              <a:rPr lang="en-US" dirty="0"/>
            </a:br>
            <a:r>
              <a:rPr lang="en-US" b="1" dirty="0"/>
              <a:t>A.4 looks below the species level at population genetic vulnerability.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71840B8-E582-6E44-9E68-439566DD72E5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302360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1AEFEA-BAB7-704F-9805-739D7747D87B}" type="datetimeFigureOut">
              <a:rPr lang="en-US" smtClean="0"/>
              <a:t>9/21/26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07A40E-3D9D-F847-8D7C-7210A9C3C4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862133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1AEFEA-BAB7-704F-9805-739D7747D87B}" type="datetimeFigureOut">
              <a:rPr lang="en-US" smtClean="0"/>
              <a:t>9/21/26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07A40E-3D9D-F847-8D7C-7210A9C3C4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655556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1AEFEA-BAB7-704F-9805-739D7747D87B}" type="datetimeFigureOut">
              <a:rPr lang="en-US" smtClean="0"/>
              <a:t>9/21/26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07A40E-3D9D-F847-8D7C-7210A9C3C4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409721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1AEFEA-BAB7-704F-9805-739D7747D87B}" type="datetimeFigureOut">
              <a:rPr lang="en-US" smtClean="0"/>
              <a:t>9/21/26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07A40E-3D9D-F847-8D7C-7210A9C3C4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451719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1AEFEA-BAB7-704F-9805-739D7747D87B}" type="datetimeFigureOut">
              <a:rPr lang="en-US" smtClean="0"/>
              <a:t>9/21/26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07A40E-3D9D-F847-8D7C-7210A9C3C4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33153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1AEFEA-BAB7-704F-9805-739D7747D87B}" type="datetimeFigureOut">
              <a:rPr lang="en-US" smtClean="0"/>
              <a:t>9/21/26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07A40E-3D9D-F847-8D7C-7210A9C3C4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289326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1AEFEA-BAB7-704F-9805-739D7747D87B}" type="datetimeFigureOut">
              <a:rPr lang="en-US" smtClean="0"/>
              <a:t>9/21/26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07A40E-3D9D-F847-8D7C-7210A9C3C4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164261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1AEFEA-BAB7-704F-9805-739D7747D87B}" type="datetimeFigureOut">
              <a:rPr lang="en-US" smtClean="0"/>
              <a:t>9/21/26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07A40E-3D9D-F847-8D7C-7210A9C3C4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458921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1AEFEA-BAB7-704F-9805-739D7747D87B}" type="datetimeFigureOut">
              <a:rPr lang="en-US" smtClean="0"/>
              <a:t>9/21/26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07A40E-3D9D-F847-8D7C-7210A9C3C4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899314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1AEFEA-BAB7-704F-9805-739D7747D87B}" type="datetimeFigureOut">
              <a:rPr lang="en-US" smtClean="0"/>
              <a:t>9/21/26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07A40E-3D9D-F847-8D7C-7210A9C3C4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037723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1AEFEA-BAB7-704F-9805-739D7747D87B}" type="datetimeFigureOut">
              <a:rPr lang="en-US" smtClean="0"/>
              <a:t>9/21/26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07A40E-3D9D-F847-8D7C-7210A9C3C4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394575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81AEFEA-BAB7-704F-9805-739D7747D87B}" type="datetimeFigureOut">
              <a:rPr lang="en-US" smtClean="0"/>
              <a:t>9/21/26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907A40E-3D9D-F847-8D7C-7210A9C3C4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620816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02A598-8BF2-ACFC-0475-06B6E5BE406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7B6498C-C5FD-24EB-AD22-320C479AC6C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015556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40ED48-197A-8F1A-E3EE-F7AB441C26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the IUCN Red List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9DEF9D-80C0-0665-1F9C-FAA510E585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638800" cy="4351338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Global system for assessing the extinction risk of species</a:t>
            </a:r>
          </a:p>
          <a:p>
            <a:r>
              <a:rPr lang="en-US" dirty="0"/>
              <a:t>Uses standardized, quantitative criteria</a:t>
            </a:r>
          </a:p>
          <a:p>
            <a:r>
              <a:rPr lang="en-US" dirty="0"/>
              <a:t>Assessments also compile information on distribution, population, ecology, threats, use/trade, and conservation actions</a:t>
            </a:r>
          </a:p>
          <a:p>
            <a:r>
              <a:rPr lang="en-US" dirty="0"/>
              <a:t>Important distinction: </a:t>
            </a:r>
            <a:r>
              <a:rPr lang="en-US" b="1" dirty="0"/>
              <a:t>Red List status is an assessment of extinction risk, not itself a legal protection</a:t>
            </a:r>
          </a:p>
          <a:p>
            <a:endParaRPr lang="en-US" dirty="0"/>
          </a:p>
        </p:txBody>
      </p:sp>
      <p:pic>
        <p:nvPicPr>
          <p:cNvPr id="1033" name="Picture 9" descr="All About IUCN International Union for Conservation of Nature">
            <a:extLst>
              <a:ext uri="{FF2B5EF4-FFF2-40B4-BE49-F238E27FC236}">
                <a16:creationId xmlns:a16="http://schemas.microsoft.com/office/drawing/2014/main" id="{48A2F851-3D3B-CCEF-7F70-903E5B55F9C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37206" y="1460501"/>
            <a:ext cx="5854794" cy="50323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22199066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B6A550-D6D7-779C-7F95-3B72252AD2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IUCN Categorization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9EB8D5A-D64E-343E-F140-4985CDD5252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041605" cy="4351338"/>
          </a:xfrm>
        </p:spPr>
        <p:txBody>
          <a:bodyPr>
            <a:normAutofit lnSpcReduction="10000"/>
          </a:bodyPr>
          <a:lstStyle/>
          <a:p>
            <a:r>
              <a:rPr lang="en-US" dirty="0"/>
              <a:t>Taxa Assessed:</a:t>
            </a:r>
          </a:p>
          <a:p>
            <a:pPr lvl="1"/>
            <a:r>
              <a:rPr lang="en-US" dirty="0"/>
              <a:t>Species</a:t>
            </a:r>
          </a:p>
          <a:p>
            <a:pPr lvl="1"/>
            <a:r>
              <a:rPr lang="en-US" dirty="0"/>
              <a:t>Subspecies</a:t>
            </a:r>
          </a:p>
          <a:p>
            <a:pPr lvl="1"/>
            <a:r>
              <a:rPr lang="en-US" dirty="0"/>
              <a:t>Varieties (only for plants)</a:t>
            </a:r>
          </a:p>
          <a:p>
            <a:pPr lvl="1"/>
            <a:r>
              <a:rPr lang="en-US" dirty="0"/>
              <a:t>Subpopulations (provided certain conditions are met)</a:t>
            </a:r>
          </a:p>
          <a:p>
            <a:r>
              <a:rPr lang="en-US" dirty="0"/>
              <a:t>The IUCN criteria are designed for global taxa assessments</a:t>
            </a:r>
          </a:p>
          <a:p>
            <a:r>
              <a:rPr lang="en-US" dirty="0"/>
              <a:t>A species only needs to meet one criterion to qualify for a threatened category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697AAB64-3B5F-012A-2947-B98427FDCDE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84638341"/>
              </p:ext>
            </p:extLst>
          </p:nvPr>
        </p:nvGraphicFramePr>
        <p:xfrm>
          <a:off x="5902996" y="2355374"/>
          <a:ext cx="5896107" cy="301752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153287">
                  <a:extLst>
                    <a:ext uri="{9D8B030D-6E8A-4147-A177-3AD203B41FA5}">
                      <a16:colId xmlns:a16="http://schemas.microsoft.com/office/drawing/2014/main" val="2436565690"/>
                    </a:ext>
                  </a:extLst>
                </a:gridCol>
                <a:gridCol w="4742820">
                  <a:extLst>
                    <a:ext uri="{9D8B030D-6E8A-4147-A177-3AD203B41FA5}">
                      <a16:colId xmlns:a16="http://schemas.microsoft.com/office/drawing/2014/main" val="125750082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/>
                        <a:t>Criterion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 dirty="0"/>
                        <a:t>Broadly asks…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4332235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/>
                        <a:t>A</a:t>
                      </a:r>
                      <a:endParaRPr lang="en-US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Is the population declining substantially?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3605325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/>
                        <a:t>B</a:t>
                      </a:r>
                      <a:endParaRPr lang="en-US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Is its geographic range small/restricted and declining or fragmented?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0275700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/>
                        <a:t>C</a:t>
                      </a:r>
                      <a:endParaRPr lang="en-US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Is the population small </a:t>
                      </a:r>
                      <a:r>
                        <a:rPr lang="en-US" b="1"/>
                        <a:t>and</a:t>
                      </a:r>
                      <a:r>
                        <a:rPr lang="en-US"/>
                        <a:t> declining?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6082694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/>
                        <a:t>D</a:t>
                      </a:r>
                      <a:endParaRPr lang="en-US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Is the population or distribution extremely small?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269987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/>
                        <a:t>E</a:t>
                      </a:r>
                      <a:endParaRPr lang="en-US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What does a quantitative extinction-risk analysis predict?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1992619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5501923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D0A416-A2CC-81B3-ACA0-60BD95460E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Flow of Information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72F7FD1-A763-2A8B-7229-96EB2B8EB94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0" y="2296788"/>
            <a:ext cx="5138530" cy="2799384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Assessments are generally prepared by specialists, Species Survival Commission groups, Red List Authorities, partners, or other qualified assessors; they are reviewed and checked before publication.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8612D66-9C95-D5AC-6D50-BE2B1F880B83}"/>
              </a:ext>
            </a:extLst>
          </p:cNvPr>
          <p:cNvSpPr/>
          <p:nvPr/>
        </p:nvSpPr>
        <p:spPr>
          <a:xfrm>
            <a:off x="1461054" y="1515510"/>
            <a:ext cx="3482009" cy="559766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Available Evidence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779A1D0-5ABD-5C7F-AF5E-CE95A58C0C33}"/>
              </a:ext>
            </a:extLst>
          </p:cNvPr>
          <p:cNvSpPr/>
          <p:nvPr/>
        </p:nvSpPr>
        <p:spPr>
          <a:xfrm>
            <a:off x="1461054" y="2385778"/>
            <a:ext cx="3482009" cy="559766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Species Assessment Against Criteria A-E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1C77F55-1533-6036-0D96-9C22DA17B0A3}"/>
              </a:ext>
            </a:extLst>
          </p:cNvPr>
          <p:cNvSpPr/>
          <p:nvPr/>
        </p:nvSpPr>
        <p:spPr>
          <a:xfrm>
            <a:off x="1461053" y="3256046"/>
            <a:ext cx="3482009" cy="559766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Proposed Red List Category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31D3616-8AC6-9FA3-EB44-D9579EA19631}"/>
              </a:ext>
            </a:extLst>
          </p:cNvPr>
          <p:cNvSpPr/>
          <p:nvPr/>
        </p:nvSpPr>
        <p:spPr>
          <a:xfrm>
            <a:off x="1461053" y="4126314"/>
            <a:ext cx="3482009" cy="559766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Expert/ Red List Authority Review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4A7518B-E6BB-9ACF-E1D1-8D499CCC70A3}"/>
              </a:ext>
            </a:extLst>
          </p:cNvPr>
          <p:cNvSpPr/>
          <p:nvPr/>
        </p:nvSpPr>
        <p:spPr>
          <a:xfrm>
            <a:off x="1461052" y="4996582"/>
            <a:ext cx="3482009" cy="559766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IUCN Red List Unit quality checks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F3B2BAF-6853-E2ED-54A8-26621AD7C2FC}"/>
              </a:ext>
            </a:extLst>
          </p:cNvPr>
          <p:cNvSpPr/>
          <p:nvPr/>
        </p:nvSpPr>
        <p:spPr>
          <a:xfrm>
            <a:off x="1461052" y="5866848"/>
            <a:ext cx="3482009" cy="559766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Published Assessment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66C2AF3F-D417-9B1E-2997-9BB83FDA0B04}"/>
              </a:ext>
            </a:extLst>
          </p:cNvPr>
          <p:cNvCxnSpPr>
            <a:stCxn id="5" idx="2"/>
            <a:endCxn id="6" idx="0"/>
          </p:cNvCxnSpPr>
          <p:nvPr/>
        </p:nvCxnSpPr>
        <p:spPr>
          <a:xfrm>
            <a:off x="3202059" y="2075276"/>
            <a:ext cx="0" cy="310502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B7584DD1-B364-F8EB-848C-7FD4CE405C4E}"/>
              </a:ext>
            </a:extLst>
          </p:cNvPr>
          <p:cNvCxnSpPr/>
          <p:nvPr/>
        </p:nvCxnSpPr>
        <p:spPr>
          <a:xfrm>
            <a:off x="3202056" y="2945544"/>
            <a:ext cx="0" cy="310502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3AB66181-1CDD-AC42-F07A-CF9FA0ECF207}"/>
              </a:ext>
            </a:extLst>
          </p:cNvPr>
          <p:cNvCxnSpPr/>
          <p:nvPr/>
        </p:nvCxnSpPr>
        <p:spPr>
          <a:xfrm>
            <a:off x="3202056" y="3815812"/>
            <a:ext cx="0" cy="310502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9A57E88E-C050-EEB6-C412-39F91C52FC3F}"/>
              </a:ext>
            </a:extLst>
          </p:cNvPr>
          <p:cNvCxnSpPr/>
          <p:nvPr/>
        </p:nvCxnSpPr>
        <p:spPr>
          <a:xfrm>
            <a:off x="3190463" y="4686080"/>
            <a:ext cx="0" cy="310502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8D45A2B7-A082-BDB2-05FC-84780D7967A0}"/>
              </a:ext>
            </a:extLst>
          </p:cNvPr>
          <p:cNvCxnSpPr/>
          <p:nvPr/>
        </p:nvCxnSpPr>
        <p:spPr>
          <a:xfrm>
            <a:off x="3202056" y="5556346"/>
            <a:ext cx="0" cy="310502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0888502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E41630-A727-9C1E-3720-27E1FE18E5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Red List is not law but it informs policy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93D19F-0FAE-5390-C981-1405A225A06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IUCN Red List feeds into</a:t>
            </a:r>
          </a:p>
          <a:p>
            <a:pPr lvl="1"/>
            <a:r>
              <a:rPr lang="en-US" dirty="0"/>
              <a:t>conservation planning</a:t>
            </a:r>
          </a:p>
          <a:p>
            <a:pPr lvl="1"/>
            <a:r>
              <a:rPr lang="en-US" dirty="0"/>
              <a:t>national and regional conservation priorities</a:t>
            </a:r>
          </a:p>
          <a:p>
            <a:pPr lvl="1"/>
            <a:r>
              <a:rPr lang="en-US" dirty="0"/>
              <a:t>international agreements</a:t>
            </a:r>
          </a:p>
          <a:p>
            <a:pPr lvl="1"/>
            <a:r>
              <a:rPr lang="en-US" dirty="0"/>
              <a:t>global biodiversity indicators</a:t>
            </a:r>
          </a:p>
          <a:p>
            <a:r>
              <a:rPr lang="en-US" dirty="0"/>
              <a:t>Examples of international agreements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US" dirty="0"/>
              <a:t>CITES - Red List information can inform decisions concerning international trade and revisions to CITES appendices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US" dirty="0"/>
              <a:t>CMS - Red List information can inform decisions concerning migratory species and their conservation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US" dirty="0"/>
              <a:t>GBF</a:t>
            </a:r>
          </a:p>
        </p:txBody>
      </p:sp>
    </p:spTree>
    <p:extLst>
      <p:ext uri="{BB962C8B-B14F-4D97-AF65-F5344CB8AC3E}">
        <p14:creationId xmlns:p14="http://schemas.microsoft.com/office/powerpoint/2010/main" val="197674828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296119-A7C4-99A7-A152-8D6A852E5A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Global Biodiversity Framework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ECED6E-AD0F-183C-8713-5228DA99E9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7704" y="2675544"/>
            <a:ext cx="5536096" cy="2259605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The GBF needs measurable indicators to determine whether countries and the international community are actually making progress toward these goals.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4D5E6A6-E12B-4AAB-68AD-507B05FA6AC0}"/>
              </a:ext>
            </a:extLst>
          </p:cNvPr>
          <p:cNvSpPr/>
          <p:nvPr/>
        </p:nvSpPr>
        <p:spPr>
          <a:xfrm>
            <a:off x="1262273" y="2655196"/>
            <a:ext cx="3482009" cy="559766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4 Goals for 2025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BF6A0F0-5481-336C-E849-0345305FC5CA}"/>
              </a:ext>
            </a:extLst>
          </p:cNvPr>
          <p:cNvSpPr/>
          <p:nvPr/>
        </p:nvSpPr>
        <p:spPr>
          <a:xfrm>
            <a:off x="1262273" y="3525464"/>
            <a:ext cx="3482009" cy="559766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23 Targets for 2030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EDA11CE-0E44-F912-F486-FC90FF195966}"/>
              </a:ext>
            </a:extLst>
          </p:cNvPr>
          <p:cNvSpPr/>
          <p:nvPr/>
        </p:nvSpPr>
        <p:spPr>
          <a:xfrm>
            <a:off x="1262272" y="4395732"/>
            <a:ext cx="3482009" cy="559766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Headline + component + complementary indicators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7CDAC8E0-3D1B-4915-26A8-7501566BB8D3}"/>
              </a:ext>
            </a:extLst>
          </p:cNvPr>
          <p:cNvCxnSpPr>
            <a:stCxn id="4" idx="2"/>
            <a:endCxn id="5" idx="0"/>
          </p:cNvCxnSpPr>
          <p:nvPr/>
        </p:nvCxnSpPr>
        <p:spPr>
          <a:xfrm>
            <a:off x="3003278" y="3214962"/>
            <a:ext cx="0" cy="310502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A4CDEBC1-6BC4-885B-E60F-C3C0300EB7EF}"/>
              </a:ext>
            </a:extLst>
          </p:cNvPr>
          <p:cNvCxnSpPr>
            <a:cxnSpLocks/>
          </p:cNvCxnSpPr>
          <p:nvPr/>
        </p:nvCxnSpPr>
        <p:spPr>
          <a:xfrm>
            <a:off x="3003275" y="4085230"/>
            <a:ext cx="0" cy="310502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3294418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36D5E1-1388-D964-7350-20AC58B4E9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Global Biodiversity Framework</a:t>
            </a:r>
          </a:p>
        </p:txBody>
      </p:sp>
      <p:pic>
        <p:nvPicPr>
          <p:cNvPr id="5122" name="Picture 2" descr="Cheat sheet to the Kunming-Montréal Global Biodiversity Framework | Centre  for Sustainable Area Management (CeSAM) | UiB">
            <a:extLst>
              <a:ext uri="{FF2B5EF4-FFF2-40B4-BE49-F238E27FC236}">
                <a16:creationId xmlns:a16="http://schemas.microsoft.com/office/drawing/2014/main" id="{EFC6FBDC-C025-0197-1688-BA6A1C655CF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96415977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19DED2-2A9D-5D00-1C7B-27CD1D5EF0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Where the Red List fits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D682009-65F0-E849-0BC8-CD0C12929B4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73833"/>
            <a:ext cx="10515600" cy="1421158"/>
          </a:xfr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/>
          <a:lstStyle/>
          <a:p>
            <a:pPr marL="0" indent="0">
              <a:buNone/>
            </a:pPr>
            <a:r>
              <a:rPr lang="en-US" b="1" dirty="0">
                <a:solidFill>
                  <a:sysClr val="windowText" lastClr="000000"/>
                </a:solidFill>
              </a:rPr>
              <a:t>Goal A</a:t>
            </a:r>
          </a:p>
          <a:p>
            <a:pPr marL="0" indent="0">
              <a:buNone/>
            </a:pPr>
            <a:r>
              <a:rPr lang="en-US" dirty="0">
                <a:solidFill>
                  <a:sysClr val="windowText" lastClr="000000"/>
                </a:solidFill>
              </a:rPr>
              <a:t>Maintain ecosystem integrity, reduce extinction risk, increase abundance of native species, and maintain genetic diversity.</a:t>
            </a:r>
          </a:p>
          <a:p>
            <a:pPr marL="0" indent="0">
              <a:buNone/>
            </a:pP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17DF8EEC-22E8-91C4-B909-A72B95C6EBDA}"/>
              </a:ext>
            </a:extLst>
          </p:cNvPr>
          <p:cNvSpPr txBox="1">
            <a:spLocks/>
          </p:cNvSpPr>
          <p:nvPr/>
        </p:nvSpPr>
        <p:spPr>
          <a:xfrm>
            <a:off x="838200" y="3152431"/>
            <a:ext cx="10515600" cy="1421158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5"/>
          </a:fillRef>
          <a:effectRef idx="1">
            <a:schemeClr val="accent5"/>
          </a:effectRef>
          <a:fontRef idx="minor">
            <a:schemeClr val="lt1"/>
          </a:fontRef>
        </p:style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b="1" dirty="0"/>
              <a:t>Target 4</a:t>
            </a:r>
          </a:p>
          <a:p>
            <a:pPr marL="0" indent="0">
              <a:buNone/>
            </a:pPr>
            <a:r>
              <a:rPr lang="en-US" dirty="0"/>
              <a:t>Halt species extinction, protect genetic diversity, and manage human–wildlife conflicts.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99DAEE22-2DAD-0D8E-26D5-BFCED38678FF}"/>
              </a:ext>
            </a:extLst>
          </p:cNvPr>
          <p:cNvSpPr txBox="1">
            <a:spLocks/>
          </p:cNvSpPr>
          <p:nvPr/>
        </p:nvSpPr>
        <p:spPr>
          <a:xfrm>
            <a:off x="838200" y="4768644"/>
            <a:ext cx="5257800" cy="1421158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b="1" dirty="0"/>
              <a:t>A.3 — Red List Index</a:t>
            </a:r>
            <a:br>
              <a:rPr lang="en-US" dirty="0"/>
            </a:br>
            <a:r>
              <a:rPr lang="en-US" i="1" dirty="0"/>
              <a:t>Are extinction risks across species improving or worsening?</a:t>
            </a:r>
            <a:endParaRPr lang="en-US"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98CB4C8E-CAEF-59BA-A039-7E19B2062A90}"/>
              </a:ext>
            </a:extLst>
          </p:cNvPr>
          <p:cNvSpPr txBox="1">
            <a:spLocks/>
          </p:cNvSpPr>
          <p:nvPr/>
        </p:nvSpPr>
        <p:spPr>
          <a:xfrm>
            <a:off x="6281530" y="4763536"/>
            <a:ext cx="5257800" cy="1421158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vert="horz" lIns="91440" tIns="45720" rIns="91440" bIns="45720" rtlCol="0">
            <a:normAutofit fontScale="925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b="1" dirty="0"/>
              <a:t>A.4 — Proportion of populations with Ne &gt; 500</a:t>
            </a:r>
            <a:br>
              <a:rPr lang="en-US" dirty="0"/>
            </a:br>
            <a:r>
              <a:rPr lang="en-US" i="1" dirty="0"/>
              <a:t>Are populations maintaining sufficient effective population sizes?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7856396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2013 - 2022 Theme">
  <a:themeElements>
    <a:clrScheme name="Office 2013 - 2022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2013 - 2022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2013 - 2022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31</TotalTime>
  <Words>445</Words>
  <Application>Microsoft Macintosh PowerPoint</Application>
  <PresentationFormat>Widescreen</PresentationFormat>
  <Paragraphs>62</Paragraphs>
  <Slides>8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3" baseType="lpstr">
      <vt:lpstr>Aptos</vt:lpstr>
      <vt:lpstr>Arial</vt:lpstr>
      <vt:lpstr>Calibri</vt:lpstr>
      <vt:lpstr>Calibri Light</vt:lpstr>
      <vt:lpstr>Office 2013 - 2022 Theme</vt:lpstr>
      <vt:lpstr>PowerPoint Presentation</vt:lpstr>
      <vt:lpstr>What is the IUCN Red List</vt:lpstr>
      <vt:lpstr>IUCN Categorization</vt:lpstr>
      <vt:lpstr>Flow of Information</vt:lpstr>
      <vt:lpstr>The Red List is not law but it informs policy</vt:lpstr>
      <vt:lpstr>Global Biodiversity Framework</vt:lpstr>
      <vt:lpstr>Global Biodiversity Framework</vt:lpstr>
      <vt:lpstr>Where the Red List fits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Erica Robertson</dc:creator>
  <cp:lastModifiedBy>Erica Robertson</cp:lastModifiedBy>
  <cp:revision>1</cp:revision>
  <dcterms:created xsi:type="dcterms:W3CDTF">2026-09-21T14:37:01Z</dcterms:created>
  <dcterms:modified xsi:type="dcterms:W3CDTF">2026-09-21T15:08:28Z</dcterms:modified>
</cp:coreProperties>
</file>